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svg"/><Relationship Id="rId8" Type="http://schemas.openxmlformats.org/officeDocument/2006/relationships/image" Target="../media/image-1-8.png"/><Relationship Id="rId9" Type="http://schemas.openxmlformats.org/officeDocument/2006/relationships/image" Target="../media/image-1-9.svg"/><Relationship Id="rId10" Type="http://schemas.openxmlformats.org/officeDocument/2006/relationships/image" Target="../media/image-1-10.png"/><Relationship Id="rId11" Type="http://schemas.openxmlformats.org/officeDocument/2006/relationships/image" Target="../media/image-1-11.svg"/><Relationship Id="rId12" Type="http://schemas.openxmlformats.org/officeDocument/2006/relationships/image" Target="../media/image-1-12.png"/><Relationship Id="rId13" Type="http://schemas.openxmlformats.org/officeDocument/2006/relationships/image" Target="../media/image-1-13.svg"/><Relationship Id="rId14" Type="http://schemas.openxmlformats.org/officeDocument/2006/relationships/image" Target="../media/image-1-14.png"/><Relationship Id="rId15" Type="http://schemas.openxmlformats.org/officeDocument/2006/relationships/image" Target="../media/image-1-15.svg"/><Relationship Id="rId16" Type="http://schemas.openxmlformats.org/officeDocument/2006/relationships/image" Target="../media/image-1-16.png"/><Relationship Id="rId17" Type="http://schemas.openxmlformats.org/officeDocument/2006/relationships/image" Target="../media/image-1-17.svg"/><Relationship Id="rId18" Type="http://schemas.openxmlformats.org/officeDocument/2006/relationships/image" Target="../media/image-1-18.png"/><Relationship Id="rId19" Type="http://schemas.openxmlformats.org/officeDocument/2006/relationships/image" Target="../media/image-1-19.svg"/><Relationship Id="rId20" Type="http://schemas.openxmlformats.org/officeDocument/2006/relationships/image" Target="../media/image-1-20.png"/><Relationship Id="rId21" Type="http://schemas.openxmlformats.org/officeDocument/2006/relationships/image" Target="../media/image-1-21.svg"/><Relationship Id="rId22" Type="http://schemas.openxmlformats.org/officeDocument/2006/relationships/image" Target="../media/image-1-22.png"/><Relationship Id="rId23" Type="http://schemas.openxmlformats.org/officeDocument/2006/relationships/image" Target="../media/image-1-23.svg"/><Relationship Id="rId24" Type="http://schemas.openxmlformats.org/officeDocument/2006/relationships/slideLayout" Target="../slideLayouts/slideLayout1.xml"/><Relationship Id="rId2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image" Target="../media/image-2-7.png"/><Relationship Id="rId8" Type="http://schemas.openxmlformats.org/officeDocument/2006/relationships/image" Target="../media/image-2-8.svg"/><Relationship Id="rId9" Type="http://schemas.openxmlformats.org/officeDocument/2006/relationships/image" Target="../media/image-2-9.png"/><Relationship Id="rId10" Type="http://schemas.openxmlformats.org/officeDocument/2006/relationships/image" Target="../media/image-2-10.svg"/><Relationship Id="rId11" Type="http://schemas.openxmlformats.org/officeDocument/2006/relationships/image" Target="../media/image-2-11.png"/><Relationship Id="rId12" Type="http://schemas.openxmlformats.org/officeDocument/2006/relationships/image" Target="../media/image-2-12.sv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-149"/>
            <a:ext cx="9144000" cy="28575"/>
          </a:xfrm>
          <a:prstGeom prst="rect">
            <a:avLst/>
          </a:prstGeom>
          <a:solidFill>
            <a:srgbClr val="006B5C"/>
          </a:solidFill>
          <a:ln/>
        </p:spPr>
      </p:sp>
      <p:sp>
        <p:nvSpPr>
          <p:cNvPr id="4" name="Text 2"/>
          <p:cNvSpPr/>
          <p:nvPr/>
        </p:nvSpPr>
        <p:spPr>
          <a:xfrm>
            <a:off x="347439" y="148754"/>
            <a:ext cx="3105277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60" b="1" spc="60" kern="0" dirty="0">
                <a:solidFill>
                  <a:srgbClr val="006B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ABC EVENTS — EXECUTIVE STEERING COMMITTEE</a:t>
            </a:r>
            <a:endParaRPr lang="en-US" sz="660" dirty="0"/>
          </a:p>
        </p:txBody>
      </p:sp>
      <p:sp>
        <p:nvSpPr>
          <p:cNvPr id="5" name="Text 3"/>
          <p:cNvSpPr/>
          <p:nvPr/>
        </p:nvSpPr>
        <p:spPr>
          <a:xfrm>
            <a:off x="7245772" y="150763"/>
            <a:ext cx="2073176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590" dirty="0">
                <a:solidFill>
                  <a:srgbClr val="8888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| Discovery Phase | July 2026</a:t>
            </a:r>
            <a:endParaRPr lang="en-US" sz="590" dirty="0"/>
          </a:p>
        </p:txBody>
      </p:sp>
      <p:sp>
        <p:nvSpPr>
          <p:cNvPr id="6" name="Text 4"/>
          <p:cNvSpPr/>
          <p:nvPr/>
        </p:nvSpPr>
        <p:spPr>
          <a:xfrm>
            <a:off x="347439" y="297359"/>
            <a:ext cx="9692573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344"/>
              </a:spcAft>
              <a:buNone/>
            </a:pPr>
            <a:r>
              <a:rPr lang="en-US" sz="1550" b="1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Root Cause, One Intervention: Codifying Senior Deal Expertise Through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347439" y="533251"/>
            <a:ext cx="10048763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344"/>
              </a:spcAft>
              <a:buNone/>
            </a:pPr>
            <a:r>
              <a:rPr lang="en-US" sz="1550" b="1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Promoter AI Eliminates the Revision Bottleneck and Frees Leadership Capacity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346472" y="830684"/>
            <a:ext cx="504825" cy="14288"/>
          </a:xfrm>
          <a:prstGeom prst="rect">
            <a:avLst/>
          </a:prstGeom>
          <a:solidFill>
            <a:srgbClr val="006B5C"/>
          </a:solidFill>
          <a:ln/>
        </p:spPr>
      </p:sp>
      <p:sp>
        <p:nvSpPr>
          <p:cNvPr id="9" name="Text 7"/>
          <p:cNvSpPr/>
          <p:nvPr/>
        </p:nvSpPr>
        <p:spPr>
          <a:xfrm>
            <a:off x="347439" y="887462"/>
            <a:ext cx="10808739" cy="3016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13"/>
              </a:lnSpc>
              <a:buNone/>
            </a:pPr>
            <a:r>
              <a:rPr lang="en-US" sz="840" b="1" dirty="0">
                <a:solidFill>
                  <a:srgbClr val="006B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Recommendation: </a:t>
            </a:r>
            <a:pPr algn="l" indent="0" marL="0">
              <a:lnSpc>
                <a:spcPts val="1213"/>
              </a:lnSpc>
              <a:buNone/>
            </a:pPr>
            <a:r>
              <a:rPr lang="en-US" sz="840" dirty="0">
                <a:solidFill>
                  <a:srgbClr val="4040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Institutionalize senior negotiation expertise through a governed AI capability — grounding every promoter recommendation in verified historical</a:t>
            </a:r>
            <a:endParaRPr lang="en-US" sz="840" dirty="0"/>
          </a:p>
          <a:p>
            <a:pPr algn="l" indent="0" marL="0">
              <a:lnSpc>
                <a:spcPts val="1213"/>
              </a:lnSpc>
              <a:buNone/>
            </a:pPr>
            <a:r>
              <a:rPr lang="en-US" sz="840" dirty="0">
                <a:solidFill>
                  <a:srgbClr val="4040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deal data and codified leadership judgment, before the plan ever reaches review.</a:t>
            </a:r>
            <a:endParaRPr lang="en-US" sz="840" dirty="0"/>
          </a:p>
        </p:txBody>
      </p:sp>
      <p:sp>
        <p:nvSpPr>
          <p:cNvPr id="10" name="Shape 8"/>
          <p:cNvSpPr/>
          <p:nvPr/>
        </p:nvSpPr>
        <p:spPr>
          <a:xfrm>
            <a:off x="347700" y="1256221"/>
            <a:ext cx="2724150" cy="3395663"/>
          </a:xfrm>
          <a:prstGeom prst="roundRect">
            <a:avLst>
              <a:gd name="adj" fmla="val 1510"/>
            </a:avLst>
          </a:prstGeom>
          <a:solidFill>
            <a:srgbClr val="EAF6F2"/>
          </a:solidFill>
          <a:ln/>
        </p:spPr>
      </p:sp>
      <p:sp>
        <p:nvSpPr>
          <p:cNvPr id="11" name="Text 9"/>
          <p:cNvSpPr/>
          <p:nvPr/>
        </p:nvSpPr>
        <p:spPr>
          <a:xfrm>
            <a:off x="457126" y="1380827"/>
            <a:ext cx="2773464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365"/>
              </a:spcAft>
              <a:buNone/>
            </a:pPr>
            <a:r>
              <a:rPr lang="en-US" sz="580" b="1" spc="58" kern="0" dirty="0">
                <a:solidFill>
                  <a:srgbClr val="006B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ROOT CAUSE — ONE CHAIN, NOT FIVE SYMPTOMS</a:t>
            </a:r>
            <a:endParaRPr lang="en-US" sz="580" dirty="0"/>
          </a:p>
        </p:txBody>
      </p:sp>
      <p:sp>
        <p:nvSpPr>
          <p:cNvPr id="12" name="Shape 10"/>
          <p:cNvSpPr/>
          <p:nvPr/>
        </p:nvSpPr>
        <p:spPr>
          <a:xfrm>
            <a:off x="457237" y="1581038"/>
            <a:ext cx="2505075" cy="371475"/>
          </a:xfrm>
          <a:prstGeom prst="roundRect">
            <a:avLst>
              <a:gd name="adj" fmla="val 7877"/>
            </a:avLst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549101" y="1616050"/>
            <a:ext cx="1809564" cy="1095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Expertise siloed in senior leaders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549101" y="1729978"/>
            <a:ext cx="3014729" cy="189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8"/>
              </a:lnSpc>
              <a:buNone/>
            </a:pPr>
            <a:r>
              <a:rPr lang="en-US" sz="55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Negotiation benchmarks, approval criteria, and counterparty patterns</a:t>
            </a:r>
            <a:endParaRPr lang="en-US" sz="550" dirty="0"/>
          </a:p>
          <a:p>
            <a:pPr algn="l" indent="0" marL="0">
              <a:lnSpc>
                <a:spcPts val="738"/>
              </a:lnSpc>
              <a:buNone/>
            </a:pPr>
            <a:r>
              <a:rPr lang="en-US" sz="55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never systematically captured</a:t>
            </a:r>
            <a:endParaRPr lang="en-US" sz="550" dirty="0"/>
          </a:p>
        </p:txBody>
      </p:sp>
      <p:sp>
        <p:nvSpPr>
          <p:cNvPr id="15" name="Shape 13"/>
          <p:cNvSpPr/>
          <p:nvPr/>
        </p:nvSpPr>
        <p:spPr>
          <a:xfrm>
            <a:off x="1704975" y="1953071"/>
            <a:ext cx="9525" cy="104775"/>
          </a:xfrm>
          <a:prstGeom prst="rect">
            <a:avLst/>
          </a:prstGeom>
          <a:solidFill>
            <a:srgbClr val="006B5C"/>
          </a:solidFill>
          <a:ln/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0688" y="2057846"/>
            <a:ext cx="38100" cy="23812"/>
          </a:xfrm>
          <a:prstGeom prst="rect">
            <a:avLst/>
          </a:prstGeom>
        </p:spPr>
      </p:pic>
      <p:sp>
        <p:nvSpPr>
          <p:cNvPr id="17" name="Shape 14"/>
          <p:cNvSpPr/>
          <p:nvPr/>
        </p:nvSpPr>
        <p:spPr>
          <a:xfrm>
            <a:off x="457237" y="2082217"/>
            <a:ext cx="2505075" cy="371475"/>
          </a:xfrm>
          <a:prstGeom prst="roundRect">
            <a:avLst>
              <a:gd name="adj" fmla="val 7877"/>
            </a:avLst>
          </a:prstGeom>
          <a:solidFill>
            <a:srgbClr val="FFFFFF"/>
          </a:solidFill>
          <a:ln/>
        </p:spPr>
      </p:sp>
      <p:sp>
        <p:nvSpPr>
          <p:cNvPr id="18" name="Text 15"/>
          <p:cNvSpPr/>
          <p:nvPr/>
        </p:nvSpPr>
        <p:spPr>
          <a:xfrm>
            <a:off x="549101" y="2117229"/>
            <a:ext cx="2348880" cy="1095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Promoters lack calibration at point of need</a:t>
            </a:r>
            <a:endParaRPr lang="en-US" sz="650" dirty="0"/>
          </a:p>
        </p:txBody>
      </p:sp>
      <p:sp>
        <p:nvSpPr>
          <p:cNvPr id="19" name="Text 16"/>
          <p:cNvSpPr/>
          <p:nvPr/>
        </p:nvSpPr>
        <p:spPr>
          <a:xfrm>
            <a:off x="549101" y="2231157"/>
            <a:ext cx="2917217" cy="189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8"/>
              </a:lnSpc>
              <a:buNone/>
            </a:pPr>
            <a:r>
              <a:rPr lang="en-US" sz="55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comparable deal data or benchmark guidance accessible during</a:t>
            </a:r>
            <a:endParaRPr lang="en-US" sz="550" dirty="0"/>
          </a:p>
          <a:p>
            <a:pPr algn="l" indent="0" marL="0">
              <a:lnSpc>
                <a:spcPts val="738"/>
              </a:lnSpc>
              <a:buNone/>
            </a:pPr>
            <a:r>
              <a:rPr lang="en-US" sz="55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 authoring</a:t>
            </a:r>
            <a:endParaRPr lang="en-US" sz="550" dirty="0"/>
          </a:p>
        </p:txBody>
      </p:sp>
      <p:sp>
        <p:nvSpPr>
          <p:cNvPr id="20" name="Shape 17"/>
          <p:cNvSpPr/>
          <p:nvPr/>
        </p:nvSpPr>
        <p:spPr>
          <a:xfrm>
            <a:off x="1704975" y="2454250"/>
            <a:ext cx="9525" cy="104775"/>
          </a:xfrm>
          <a:prstGeom prst="rect">
            <a:avLst/>
          </a:prstGeom>
          <a:solidFill>
            <a:srgbClr val="006B5C"/>
          </a:solidFill>
          <a:ln/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0688" y="2559025"/>
            <a:ext cx="38100" cy="23812"/>
          </a:xfrm>
          <a:prstGeom prst="rect">
            <a:avLst/>
          </a:prstGeom>
        </p:spPr>
      </p:pic>
      <p:sp>
        <p:nvSpPr>
          <p:cNvPr id="22" name="Shape 18"/>
          <p:cNvSpPr/>
          <p:nvPr/>
        </p:nvSpPr>
        <p:spPr>
          <a:xfrm>
            <a:off x="457237" y="2583396"/>
            <a:ext cx="2505075" cy="371475"/>
          </a:xfrm>
          <a:prstGeom prst="roundRect">
            <a:avLst>
              <a:gd name="adj" fmla="val 7877"/>
            </a:avLst>
          </a:prstGeom>
          <a:solidFill>
            <a:srgbClr val="FFFFFF"/>
          </a:solidFill>
          <a:ln/>
        </p:spPr>
      </p:sp>
      <p:sp>
        <p:nvSpPr>
          <p:cNvPr id="23" name="Text 19"/>
          <p:cNvSpPr/>
          <p:nvPr/>
        </p:nvSpPr>
        <p:spPr>
          <a:xfrm>
            <a:off x="549101" y="2618408"/>
            <a:ext cx="2423852" cy="1095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Plans submitted with structural weaknesses</a:t>
            </a:r>
            <a:endParaRPr lang="en-US" sz="650" dirty="0"/>
          </a:p>
        </p:txBody>
      </p:sp>
      <p:sp>
        <p:nvSpPr>
          <p:cNvPr id="24" name="Text 20"/>
          <p:cNvSpPr/>
          <p:nvPr/>
        </p:nvSpPr>
        <p:spPr>
          <a:xfrm>
            <a:off x="549101" y="2732336"/>
            <a:ext cx="2891195" cy="189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8"/>
              </a:lnSpc>
              <a:buNone/>
            </a:pPr>
            <a:r>
              <a:rPr lang="en-US" sz="55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Guarantee levels, sellthrough assumptions, and cost structures not</a:t>
            </a:r>
            <a:endParaRPr lang="en-US" sz="550" dirty="0"/>
          </a:p>
          <a:p>
            <a:pPr algn="l" indent="0" marL="0">
              <a:lnSpc>
                <a:spcPts val="738"/>
              </a:lnSpc>
              <a:buNone/>
            </a:pPr>
            <a:r>
              <a:rPr lang="en-US" sz="55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benchmarked before submission</a:t>
            </a:r>
            <a:endParaRPr lang="en-US" sz="550" dirty="0"/>
          </a:p>
        </p:txBody>
      </p:sp>
      <p:sp>
        <p:nvSpPr>
          <p:cNvPr id="25" name="Shape 21"/>
          <p:cNvSpPr/>
          <p:nvPr/>
        </p:nvSpPr>
        <p:spPr>
          <a:xfrm>
            <a:off x="1704975" y="2955429"/>
            <a:ext cx="9525" cy="104775"/>
          </a:xfrm>
          <a:prstGeom prst="rect">
            <a:avLst/>
          </a:prstGeom>
          <a:solidFill>
            <a:srgbClr val="006B5C"/>
          </a:solidFill>
          <a:ln/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0688" y="3060204"/>
            <a:ext cx="38100" cy="23812"/>
          </a:xfrm>
          <a:prstGeom prst="rect">
            <a:avLst/>
          </a:prstGeom>
        </p:spPr>
      </p:pic>
      <p:sp>
        <p:nvSpPr>
          <p:cNvPr id="27" name="Shape 22"/>
          <p:cNvSpPr/>
          <p:nvPr/>
        </p:nvSpPr>
        <p:spPr>
          <a:xfrm>
            <a:off x="457237" y="3084575"/>
            <a:ext cx="2505075" cy="371475"/>
          </a:xfrm>
          <a:prstGeom prst="roundRect">
            <a:avLst>
              <a:gd name="adj" fmla="val 7877"/>
            </a:avLst>
          </a:prstGeom>
          <a:solidFill>
            <a:srgbClr val="FFFFFF"/>
          </a:solidFill>
          <a:ln/>
        </p:spPr>
      </p:sp>
      <p:sp>
        <p:nvSpPr>
          <p:cNvPr id="28" name="Text 23"/>
          <p:cNvSpPr/>
          <p:nvPr/>
        </p:nvSpPr>
        <p:spPr>
          <a:xfrm>
            <a:off x="549101" y="3119586"/>
            <a:ext cx="1786540" cy="1095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Multiple revision cycles required</a:t>
            </a:r>
            <a:endParaRPr lang="en-US" sz="650" dirty="0"/>
          </a:p>
        </p:txBody>
      </p:sp>
      <p:sp>
        <p:nvSpPr>
          <p:cNvPr id="29" name="Text 24"/>
          <p:cNvSpPr/>
          <p:nvPr/>
        </p:nvSpPr>
        <p:spPr>
          <a:xfrm>
            <a:off x="549101" y="3233514"/>
            <a:ext cx="3055747" cy="189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8"/>
              </a:lnSpc>
              <a:buNone/>
            </a:pPr>
            <a:r>
              <a:rPr lang="en-US" sz="55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Rework loops consume promoter and leadership time already invested</a:t>
            </a:r>
            <a:endParaRPr lang="en-US" sz="550" dirty="0"/>
          </a:p>
          <a:p>
            <a:pPr algn="l" indent="0" marL="0">
              <a:lnSpc>
                <a:spcPts val="738"/>
              </a:lnSpc>
              <a:buNone/>
            </a:pPr>
            <a:r>
              <a:rPr lang="en-US" sz="55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 a weakly scoped plan</a:t>
            </a:r>
            <a:endParaRPr lang="en-US" sz="550" dirty="0"/>
          </a:p>
        </p:txBody>
      </p:sp>
      <p:sp>
        <p:nvSpPr>
          <p:cNvPr id="30" name="Shape 25"/>
          <p:cNvSpPr/>
          <p:nvPr/>
        </p:nvSpPr>
        <p:spPr>
          <a:xfrm>
            <a:off x="1704975" y="3456608"/>
            <a:ext cx="9525" cy="104775"/>
          </a:xfrm>
          <a:prstGeom prst="rect">
            <a:avLst/>
          </a:prstGeom>
          <a:solidFill>
            <a:srgbClr val="006B5C"/>
          </a:solidFill>
          <a:ln/>
        </p:spPr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90688" y="3561383"/>
            <a:ext cx="38100" cy="23812"/>
          </a:xfrm>
          <a:prstGeom prst="rect">
            <a:avLst/>
          </a:prstGeom>
        </p:spPr>
      </p:pic>
      <p:sp>
        <p:nvSpPr>
          <p:cNvPr id="32" name="Shape 26"/>
          <p:cNvSpPr/>
          <p:nvPr/>
        </p:nvSpPr>
        <p:spPr>
          <a:xfrm>
            <a:off x="457237" y="3585753"/>
            <a:ext cx="2505075" cy="371475"/>
          </a:xfrm>
          <a:prstGeom prst="roundRect">
            <a:avLst>
              <a:gd name="adj" fmla="val 7877"/>
            </a:avLst>
          </a:prstGeom>
          <a:solidFill>
            <a:srgbClr val="FFFFFF"/>
          </a:solidFill>
          <a:ln/>
        </p:spPr>
      </p:sp>
      <p:sp>
        <p:nvSpPr>
          <p:cNvPr id="33" name="Text 27"/>
          <p:cNvSpPr/>
          <p:nvPr/>
        </p:nvSpPr>
        <p:spPr>
          <a:xfrm>
            <a:off x="549101" y="3620765"/>
            <a:ext cx="2172526" cy="1095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Senior leadership bandwidth consumed</a:t>
            </a:r>
            <a:endParaRPr lang="en-US" sz="650" dirty="0"/>
          </a:p>
        </p:txBody>
      </p:sp>
      <p:sp>
        <p:nvSpPr>
          <p:cNvPr id="34" name="Text 28"/>
          <p:cNvSpPr/>
          <p:nvPr/>
        </p:nvSpPr>
        <p:spPr>
          <a:xfrm>
            <a:off x="549101" y="3734693"/>
            <a:ext cx="2985998" cy="189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8"/>
              </a:lnSpc>
              <a:buNone/>
            </a:pPr>
            <a:r>
              <a:rPr lang="en-US" sz="55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Leaders coach instead of decide — a pattern that scales poorly as the</a:t>
            </a:r>
            <a:endParaRPr lang="en-US" sz="550" dirty="0"/>
          </a:p>
          <a:p>
            <a:pPr algn="l" indent="0" marL="0">
              <a:lnSpc>
                <a:spcPts val="738"/>
              </a:lnSpc>
              <a:buNone/>
            </a:pPr>
            <a:r>
              <a:rPr lang="en-US" sz="55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promoter base grows</a:t>
            </a:r>
            <a:endParaRPr lang="en-US" sz="550" dirty="0"/>
          </a:p>
        </p:txBody>
      </p:sp>
      <p:sp>
        <p:nvSpPr>
          <p:cNvPr id="35" name="Shape 29"/>
          <p:cNvSpPr/>
          <p:nvPr/>
        </p:nvSpPr>
        <p:spPr>
          <a:xfrm>
            <a:off x="1704975" y="3957786"/>
            <a:ext cx="9525" cy="104775"/>
          </a:xfrm>
          <a:prstGeom prst="rect">
            <a:avLst/>
          </a:prstGeom>
          <a:solidFill>
            <a:srgbClr val="006B5C"/>
          </a:solidFill>
          <a:ln/>
        </p:spPr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90688" y="4062561"/>
            <a:ext cx="38100" cy="23812"/>
          </a:xfrm>
          <a:prstGeom prst="rect">
            <a:avLst/>
          </a:prstGeom>
        </p:spPr>
      </p:pic>
      <p:sp>
        <p:nvSpPr>
          <p:cNvPr id="37" name="Shape 30"/>
          <p:cNvSpPr/>
          <p:nvPr/>
        </p:nvSpPr>
        <p:spPr>
          <a:xfrm>
            <a:off x="457237" y="4086932"/>
            <a:ext cx="2505075" cy="371475"/>
          </a:xfrm>
          <a:prstGeom prst="roundRect">
            <a:avLst>
              <a:gd name="adj" fmla="val 7877"/>
            </a:avLst>
          </a:prstGeom>
          <a:solidFill>
            <a:srgbClr val="006B5C"/>
          </a:solidFill>
          <a:ln/>
        </p:spPr>
      </p:sp>
      <p:sp>
        <p:nvSpPr>
          <p:cNvPr id="38" name="Text 31"/>
          <p:cNvSpPr/>
          <p:nvPr/>
        </p:nvSpPr>
        <p:spPr>
          <a:xfrm>
            <a:off x="534814" y="4121944"/>
            <a:ext cx="2037673" cy="1095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Competitive routing windows missed</a:t>
            </a:r>
            <a:endParaRPr lang="en-US" sz="650" dirty="0"/>
          </a:p>
        </p:txBody>
      </p:sp>
      <p:sp>
        <p:nvSpPr>
          <p:cNvPr id="39" name="Text 32"/>
          <p:cNvSpPr/>
          <p:nvPr/>
        </p:nvSpPr>
        <p:spPr>
          <a:xfrm>
            <a:off x="534814" y="4235872"/>
            <a:ext cx="3083220" cy="189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8"/>
              </a:lnSpc>
              <a:buNone/>
            </a:pPr>
            <a:r>
              <a:rPr lang="en-US" sz="550" dirty="0">
                <a:solidFill>
                  <a:srgbClr val="EAF6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Promoters who cannot produce a defensible plan quickly risk losing the</a:t>
            </a:r>
            <a:endParaRPr lang="en-US" sz="550" dirty="0"/>
          </a:p>
          <a:p>
            <a:pPr algn="l" indent="0" marL="0">
              <a:lnSpc>
                <a:spcPts val="738"/>
              </a:lnSpc>
              <a:buNone/>
            </a:pPr>
            <a:r>
              <a:rPr lang="en-US" sz="550" dirty="0">
                <a:solidFill>
                  <a:srgbClr val="EAF6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artist deal to a competitor</a:t>
            </a:r>
            <a:endParaRPr lang="en-US" sz="550" dirty="0"/>
          </a:p>
        </p:txBody>
      </p:sp>
      <p:sp>
        <p:nvSpPr>
          <p:cNvPr id="40" name="Shape 33"/>
          <p:cNvSpPr/>
          <p:nvPr/>
        </p:nvSpPr>
        <p:spPr>
          <a:xfrm>
            <a:off x="3200363" y="1256221"/>
            <a:ext cx="2733675" cy="3395663"/>
          </a:xfrm>
          <a:prstGeom prst="roundRect">
            <a:avLst>
              <a:gd name="adj" fmla="val 1505"/>
            </a:avLst>
          </a:prstGeom>
          <a:solidFill>
            <a:srgbClr val="FFFFFF"/>
          </a:solidFill>
          <a:ln w="4763">
            <a:solidFill>
              <a:srgbClr val="C8E8E0"/>
            </a:solidFill>
            <a:prstDash val="solid"/>
          </a:ln>
        </p:spPr>
      </p:sp>
      <p:sp>
        <p:nvSpPr>
          <p:cNvPr id="41" name="Shape 34"/>
          <p:cNvSpPr/>
          <p:nvPr/>
        </p:nvSpPr>
        <p:spPr>
          <a:xfrm>
            <a:off x="3314663" y="1380009"/>
            <a:ext cx="2505075" cy="533400"/>
          </a:xfrm>
          <a:prstGeom prst="roundRect">
            <a:avLst>
              <a:gd name="adj" fmla="val 6000"/>
            </a:avLst>
          </a:prstGeom>
          <a:solidFill>
            <a:srgbClr val="EAF6F2"/>
          </a:solidFill>
          <a:ln/>
        </p:spPr>
      </p:sp>
      <p:sp>
        <p:nvSpPr>
          <p:cNvPr id="42" name="Text 35"/>
          <p:cNvSpPr/>
          <p:nvPr/>
        </p:nvSpPr>
        <p:spPr>
          <a:xfrm>
            <a:off x="3420219" y="1421532"/>
            <a:ext cx="1399877" cy="952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81"/>
              </a:spcAft>
              <a:buNone/>
            </a:pPr>
            <a:r>
              <a:rPr lang="en-US" sz="560" b="1" spc="45" kern="0" dirty="0">
                <a:solidFill>
                  <a:srgbClr val="006B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STRATEGIC OPPORTUNITY</a:t>
            </a:r>
            <a:endParaRPr lang="en-US" sz="560" dirty="0"/>
          </a:p>
        </p:txBody>
      </p:sp>
      <p:sp>
        <p:nvSpPr>
          <p:cNvPr id="43" name="Text 36"/>
          <p:cNvSpPr/>
          <p:nvPr/>
        </p:nvSpPr>
        <p:spPr>
          <a:xfrm>
            <a:off x="3420219" y="1533971"/>
            <a:ext cx="2862947" cy="3379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99"/>
              </a:lnSpc>
              <a:buNone/>
            </a:pPr>
            <a:r>
              <a:rPr lang="en-US" sz="630" dirty="0">
                <a:solidFill>
                  <a:srgbClr val="4040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Transform tacit senior negotiation expertise into an</a:t>
            </a:r>
            <a:endParaRPr lang="en-US" sz="630" dirty="0"/>
          </a:p>
          <a:p>
            <a:pPr algn="l" indent="0" marL="0">
              <a:lnSpc>
                <a:spcPts val="899"/>
              </a:lnSpc>
              <a:buNone/>
            </a:pPr>
            <a:r>
              <a:rPr lang="en-US" sz="630" dirty="0">
                <a:solidFill>
                  <a:srgbClr val="4040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enterprise AI capability — available to every promoter, on</a:t>
            </a:r>
            <a:endParaRPr lang="en-US" sz="630" dirty="0"/>
          </a:p>
          <a:p>
            <a:pPr algn="l" indent="0" marL="0">
              <a:lnSpc>
                <a:spcPts val="899"/>
              </a:lnSpc>
              <a:buNone/>
            </a:pPr>
            <a:r>
              <a:rPr lang="en-US" sz="630" dirty="0">
                <a:solidFill>
                  <a:srgbClr val="4040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deal, in every market.</a:t>
            </a:r>
            <a:endParaRPr lang="en-US" sz="630" dirty="0"/>
          </a:p>
        </p:txBody>
      </p:sp>
      <p:sp>
        <p:nvSpPr>
          <p:cNvPr id="44" name="Text 37"/>
          <p:cNvSpPr/>
          <p:nvPr/>
        </p:nvSpPr>
        <p:spPr>
          <a:xfrm>
            <a:off x="3314551" y="1968773"/>
            <a:ext cx="1822430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365"/>
              </a:spcAft>
              <a:buNone/>
            </a:pPr>
            <a:r>
              <a:rPr lang="en-US" sz="580" b="1" spc="58" kern="0" dirty="0">
                <a:solidFill>
                  <a:srgbClr val="006B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SOLUTION FLOW — END TO END</a:t>
            </a:r>
            <a:endParaRPr lang="en-US" sz="580" dirty="0"/>
          </a:p>
        </p:txBody>
      </p:sp>
      <p:sp>
        <p:nvSpPr>
          <p:cNvPr id="45" name="Shape 38"/>
          <p:cNvSpPr/>
          <p:nvPr/>
        </p:nvSpPr>
        <p:spPr>
          <a:xfrm>
            <a:off x="3314663" y="2168723"/>
            <a:ext cx="2505075" cy="295275"/>
          </a:xfrm>
          <a:prstGeom prst="roundRect">
            <a:avLst>
              <a:gd name="adj" fmla="val 9290"/>
            </a:avLst>
          </a:prstGeom>
          <a:solidFill>
            <a:srgbClr val="EAF6F2"/>
          </a:solidFill>
          <a:ln/>
        </p:spPr>
      </p:sp>
      <p:sp>
        <p:nvSpPr>
          <p:cNvPr id="46" name="Text 39"/>
          <p:cNvSpPr/>
          <p:nvPr/>
        </p:nvSpPr>
        <p:spPr>
          <a:xfrm>
            <a:off x="4054595" y="2206600"/>
            <a:ext cx="102521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60" b="1" dirty="0">
                <a:solidFill>
                  <a:srgbClr val="006B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Touring Promoter</a:t>
            </a:r>
            <a:endParaRPr lang="en-US" sz="660" dirty="0"/>
          </a:p>
        </p:txBody>
      </p:sp>
      <p:sp>
        <p:nvSpPr>
          <p:cNvPr id="47" name="Text 40"/>
          <p:cNvSpPr/>
          <p:nvPr/>
        </p:nvSpPr>
        <p:spPr>
          <a:xfrm>
            <a:off x="3781793" y="2332732"/>
            <a:ext cx="1570814" cy="904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4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Authors business plan for artist deal</a:t>
            </a:r>
            <a:endParaRPr lang="en-US" sz="540" dirty="0"/>
          </a:p>
        </p:txBody>
      </p:sp>
      <p:sp>
        <p:nvSpPr>
          <p:cNvPr id="48" name="Shape 41"/>
          <p:cNvSpPr/>
          <p:nvPr/>
        </p:nvSpPr>
        <p:spPr>
          <a:xfrm>
            <a:off x="4562401" y="2463701"/>
            <a:ext cx="9525" cy="114300"/>
          </a:xfrm>
          <a:prstGeom prst="rect">
            <a:avLst/>
          </a:prstGeom>
          <a:solidFill>
            <a:srgbClr val="006B5C"/>
          </a:solidFill>
          <a:ln/>
        </p:spPr>
      </p:sp>
      <p:sp>
        <p:nvSpPr>
          <p:cNvPr id="49" name="Shape 42"/>
          <p:cNvSpPr/>
          <p:nvPr/>
        </p:nvSpPr>
        <p:spPr>
          <a:xfrm>
            <a:off x="3314663" y="2577703"/>
            <a:ext cx="2505075" cy="295275"/>
          </a:xfrm>
          <a:prstGeom prst="roundRect">
            <a:avLst>
              <a:gd name="adj" fmla="val 9290"/>
            </a:avLst>
          </a:prstGeom>
          <a:solidFill>
            <a:srgbClr val="F3F3F3"/>
          </a:solidFill>
          <a:ln/>
        </p:spPr>
      </p:sp>
      <p:sp>
        <p:nvSpPr>
          <p:cNvPr id="50" name="Text 43"/>
          <p:cNvSpPr/>
          <p:nvPr/>
        </p:nvSpPr>
        <p:spPr>
          <a:xfrm>
            <a:off x="3845652" y="2615580"/>
            <a:ext cx="1443023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60" b="1" dirty="0">
                <a:solidFill>
                  <a:srgbClr val="404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Business Planning System</a:t>
            </a:r>
            <a:endParaRPr lang="en-US" sz="660" dirty="0"/>
          </a:p>
        </p:txBody>
      </p:sp>
      <p:sp>
        <p:nvSpPr>
          <p:cNvPr id="51" name="Text 44"/>
          <p:cNvSpPr/>
          <p:nvPr/>
        </p:nvSpPr>
        <p:spPr>
          <a:xfrm>
            <a:off x="3768261" y="2741712"/>
            <a:ext cx="1597804" cy="904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4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plan context — system of record</a:t>
            </a:r>
            <a:endParaRPr lang="en-US" sz="540" dirty="0"/>
          </a:p>
        </p:txBody>
      </p:sp>
      <p:sp>
        <p:nvSpPr>
          <p:cNvPr id="52" name="Shape 45"/>
          <p:cNvSpPr/>
          <p:nvPr/>
        </p:nvSpPr>
        <p:spPr>
          <a:xfrm>
            <a:off x="4562401" y="2872680"/>
            <a:ext cx="9525" cy="114300"/>
          </a:xfrm>
          <a:prstGeom prst="rect">
            <a:avLst/>
          </a:prstGeom>
          <a:solidFill>
            <a:srgbClr val="006B5C"/>
          </a:solidFill>
          <a:ln/>
        </p:spPr>
      </p:sp>
      <p:sp>
        <p:nvSpPr>
          <p:cNvPr id="53" name="Shape 46"/>
          <p:cNvSpPr/>
          <p:nvPr/>
        </p:nvSpPr>
        <p:spPr>
          <a:xfrm>
            <a:off x="3314663" y="2987055"/>
            <a:ext cx="2505075" cy="304800"/>
          </a:xfrm>
          <a:prstGeom prst="roundRect">
            <a:avLst>
              <a:gd name="adj" fmla="val 9000"/>
            </a:avLst>
          </a:prstGeom>
          <a:solidFill>
            <a:srgbClr val="006B5C"/>
          </a:solidFill>
          <a:ln/>
        </p:spPr>
      </p:sp>
      <p:sp>
        <p:nvSpPr>
          <p:cNvPr id="54" name="Text 47"/>
          <p:cNvSpPr/>
          <p:nvPr/>
        </p:nvSpPr>
        <p:spPr>
          <a:xfrm>
            <a:off x="4199424" y="3029694"/>
            <a:ext cx="735479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Promoter AI</a:t>
            </a:r>
            <a:endParaRPr lang="en-US" sz="660" dirty="0"/>
          </a:p>
        </p:txBody>
      </p:sp>
      <p:sp>
        <p:nvSpPr>
          <p:cNvPr id="55" name="Text 48"/>
          <p:cNvSpPr/>
          <p:nvPr/>
        </p:nvSpPr>
        <p:spPr>
          <a:xfrm>
            <a:off x="3407621" y="3155826"/>
            <a:ext cx="2319084" cy="904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40" dirty="0">
                <a:solidFill>
                  <a:srgbClr val="EAF6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Historical deals • Codified expertise • LLM reasoning</a:t>
            </a:r>
            <a:endParaRPr lang="en-US" sz="540" dirty="0"/>
          </a:p>
        </p:txBody>
      </p:sp>
      <p:sp>
        <p:nvSpPr>
          <p:cNvPr id="56" name="Shape 49"/>
          <p:cNvSpPr/>
          <p:nvPr/>
        </p:nvSpPr>
        <p:spPr>
          <a:xfrm>
            <a:off x="4562401" y="3291929"/>
            <a:ext cx="9525" cy="114300"/>
          </a:xfrm>
          <a:prstGeom prst="rect">
            <a:avLst/>
          </a:prstGeom>
          <a:solidFill>
            <a:srgbClr val="006B5C"/>
          </a:solidFill>
          <a:ln/>
        </p:spPr>
      </p:sp>
      <p:sp>
        <p:nvSpPr>
          <p:cNvPr id="57" name="Shape 50"/>
          <p:cNvSpPr/>
          <p:nvPr/>
        </p:nvSpPr>
        <p:spPr>
          <a:xfrm>
            <a:off x="3314663" y="3405932"/>
            <a:ext cx="2505075" cy="295275"/>
          </a:xfrm>
          <a:prstGeom prst="roundRect">
            <a:avLst>
              <a:gd name="adj" fmla="val 9290"/>
            </a:avLst>
          </a:prstGeom>
          <a:solidFill>
            <a:srgbClr val="EAF6F2"/>
          </a:solidFill>
          <a:ln/>
        </p:spPr>
      </p:sp>
      <p:sp>
        <p:nvSpPr>
          <p:cNvPr id="58" name="Text 51"/>
          <p:cNvSpPr/>
          <p:nvPr/>
        </p:nvSpPr>
        <p:spPr>
          <a:xfrm>
            <a:off x="3743195" y="3443808"/>
            <a:ext cx="1648011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60" b="1" dirty="0">
                <a:solidFill>
                  <a:srgbClr val="006B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Grounded Recommendations</a:t>
            </a:r>
            <a:endParaRPr lang="en-US" sz="660" dirty="0"/>
          </a:p>
        </p:txBody>
      </p:sp>
      <p:sp>
        <p:nvSpPr>
          <p:cNvPr id="59" name="Text 52"/>
          <p:cNvSpPr/>
          <p:nvPr/>
        </p:nvSpPr>
        <p:spPr>
          <a:xfrm>
            <a:off x="3423099" y="3569940"/>
            <a:ext cx="2288128" cy="904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4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Deal calibration • Plan review • Negotiation support</a:t>
            </a:r>
            <a:endParaRPr lang="en-US" sz="540" dirty="0"/>
          </a:p>
        </p:txBody>
      </p:sp>
      <p:sp>
        <p:nvSpPr>
          <p:cNvPr id="60" name="Shape 53"/>
          <p:cNvSpPr/>
          <p:nvPr/>
        </p:nvSpPr>
        <p:spPr>
          <a:xfrm>
            <a:off x="4562401" y="3700909"/>
            <a:ext cx="9525" cy="114300"/>
          </a:xfrm>
          <a:prstGeom prst="rect">
            <a:avLst/>
          </a:prstGeom>
          <a:solidFill>
            <a:srgbClr val="006B5C"/>
          </a:solidFill>
          <a:ln/>
        </p:spPr>
      </p:sp>
      <p:sp>
        <p:nvSpPr>
          <p:cNvPr id="61" name="Shape 54"/>
          <p:cNvSpPr/>
          <p:nvPr/>
        </p:nvSpPr>
        <p:spPr>
          <a:xfrm>
            <a:off x="3314663" y="3814911"/>
            <a:ext cx="2505075" cy="295275"/>
          </a:xfrm>
          <a:prstGeom prst="roundRect">
            <a:avLst>
              <a:gd name="adj" fmla="val 9290"/>
            </a:avLst>
          </a:prstGeom>
          <a:solidFill>
            <a:srgbClr val="F3F3F3"/>
          </a:solidFill>
          <a:ln/>
        </p:spPr>
      </p:sp>
      <p:sp>
        <p:nvSpPr>
          <p:cNvPr id="62" name="Text 55"/>
          <p:cNvSpPr/>
          <p:nvPr/>
        </p:nvSpPr>
        <p:spPr>
          <a:xfrm>
            <a:off x="4041149" y="3852788"/>
            <a:ext cx="1052103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60" b="1" dirty="0">
                <a:solidFill>
                  <a:srgbClr val="404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Leadership Review</a:t>
            </a:r>
            <a:endParaRPr lang="en-US" sz="660" dirty="0"/>
          </a:p>
        </p:txBody>
      </p:sp>
      <p:sp>
        <p:nvSpPr>
          <p:cNvPr id="63" name="Text 56"/>
          <p:cNvSpPr/>
          <p:nvPr/>
        </p:nvSpPr>
        <p:spPr>
          <a:xfrm>
            <a:off x="3592863" y="3978920"/>
            <a:ext cx="1948674" cy="904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4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Decision-ready plans — fewer cycles required</a:t>
            </a:r>
            <a:endParaRPr lang="en-US" sz="540" dirty="0"/>
          </a:p>
        </p:txBody>
      </p:sp>
      <p:sp>
        <p:nvSpPr>
          <p:cNvPr id="64" name="Shape 57"/>
          <p:cNvSpPr/>
          <p:nvPr/>
        </p:nvSpPr>
        <p:spPr>
          <a:xfrm>
            <a:off x="4562401" y="4109889"/>
            <a:ext cx="9525" cy="114300"/>
          </a:xfrm>
          <a:prstGeom prst="rect">
            <a:avLst/>
          </a:prstGeom>
          <a:solidFill>
            <a:srgbClr val="006B5C"/>
          </a:solidFill>
          <a:ln/>
        </p:spPr>
      </p:sp>
      <p:sp>
        <p:nvSpPr>
          <p:cNvPr id="65" name="Shape 58"/>
          <p:cNvSpPr/>
          <p:nvPr/>
        </p:nvSpPr>
        <p:spPr>
          <a:xfrm>
            <a:off x="3314663" y="4223891"/>
            <a:ext cx="2505075" cy="295275"/>
          </a:xfrm>
          <a:prstGeom prst="roundRect">
            <a:avLst>
              <a:gd name="adj" fmla="val 9290"/>
            </a:avLst>
          </a:prstGeom>
          <a:solidFill>
            <a:srgbClr val="006B5C"/>
          </a:solidFill>
          <a:ln/>
        </p:spPr>
      </p:sp>
      <p:sp>
        <p:nvSpPr>
          <p:cNvPr id="66" name="Text 59"/>
          <p:cNvSpPr/>
          <p:nvPr/>
        </p:nvSpPr>
        <p:spPr>
          <a:xfrm>
            <a:off x="3880865" y="4261768"/>
            <a:ext cx="1372597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Approved Business Plan</a:t>
            </a:r>
            <a:endParaRPr lang="en-US" sz="660" dirty="0"/>
          </a:p>
        </p:txBody>
      </p:sp>
      <p:sp>
        <p:nvSpPr>
          <p:cNvPr id="67" name="Text 60"/>
          <p:cNvSpPr/>
          <p:nvPr/>
        </p:nvSpPr>
        <p:spPr>
          <a:xfrm>
            <a:off x="3609223" y="4387900"/>
            <a:ext cx="1915879" cy="904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40" dirty="0">
                <a:solidFill>
                  <a:srgbClr val="EAF6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Higher quality deals — faster time to market</a:t>
            </a:r>
            <a:endParaRPr lang="en-US" sz="540" dirty="0"/>
          </a:p>
        </p:txBody>
      </p:sp>
      <p:sp>
        <p:nvSpPr>
          <p:cNvPr id="68" name="Shape 61"/>
          <p:cNvSpPr/>
          <p:nvPr/>
        </p:nvSpPr>
        <p:spPr>
          <a:xfrm>
            <a:off x="6062551" y="1256221"/>
            <a:ext cx="2733675" cy="3395663"/>
          </a:xfrm>
          <a:prstGeom prst="roundRect">
            <a:avLst>
              <a:gd name="adj" fmla="val 1505"/>
            </a:avLst>
          </a:prstGeom>
          <a:solidFill>
            <a:srgbClr val="FFFFFF"/>
          </a:solidFill>
          <a:ln w="4763">
            <a:solidFill>
              <a:srgbClr val="C8E8E0"/>
            </a:solidFill>
            <a:prstDash val="solid"/>
          </a:ln>
        </p:spPr>
      </p:sp>
      <p:sp>
        <p:nvSpPr>
          <p:cNvPr id="69" name="Text 62"/>
          <p:cNvSpPr/>
          <p:nvPr/>
        </p:nvSpPr>
        <p:spPr>
          <a:xfrm>
            <a:off x="6176739" y="1385590"/>
            <a:ext cx="2495535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405"/>
              </a:spcAft>
              <a:buNone/>
            </a:pPr>
            <a:r>
              <a:rPr lang="en-US" sz="580" b="1" spc="58" kern="0" dirty="0">
                <a:solidFill>
                  <a:srgbClr val="006B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MEASURED OUTCOMES — 6-MONTH TARGETS</a:t>
            </a:r>
            <a:endParaRPr lang="en-US" sz="580" dirty="0"/>
          </a:p>
        </p:txBody>
      </p:sp>
      <p:sp>
        <p:nvSpPr>
          <p:cNvPr id="70" name="Shape 63"/>
          <p:cNvSpPr/>
          <p:nvPr/>
        </p:nvSpPr>
        <p:spPr>
          <a:xfrm>
            <a:off x="6176851" y="1589931"/>
            <a:ext cx="2505075" cy="285750"/>
          </a:xfrm>
          <a:prstGeom prst="roundRect">
            <a:avLst>
              <a:gd name="adj" fmla="val 10240"/>
            </a:avLst>
          </a:prstGeom>
          <a:solidFill>
            <a:srgbClr val="EAF6F2"/>
          </a:solidFill>
          <a:ln/>
        </p:spPr>
      </p:sp>
      <p:sp>
        <p:nvSpPr>
          <p:cNvPr id="71" name="Text 64"/>
          <p:cNvSpPr/>
          <p:nvPr/>
        </p:nvSpPr>
        <p:spPr>
          <a:xfrm>
            <a:off x="6052401" y="1600944"/>
            <a:ext cx="704619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480" b="1" dirty="0">
                <a:solidFill>
                  <a:srgbClr val="006B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+25%</a:t>
            </a:r>
            <a:endParaRPr lang="en-US" sz="1480" dirty="0"/>
          </a:p>
        </p:txBody>
      </p:sp>
      <p:sp>
        <p:nvSpPr>
          <p:cNvPr id="72" name="Shape 65"/>
          <p:cNvSpPr/>
          <p:nvPr/>
        </p:nvSpPr>
        <p:spPr>
          <a:xfrm>
            <a:off x="6819826" y="1630412"/>
            <a:ext cx="9525" cy="204787"/>
          </a:xfrm>
          <a:prstGeom prst="rect">
            <a:avLst/>
          </a:prstGeom>
          <a:solidFill>
            <a:srgbClr val="C8E8E0"/>
          </a:solidFill>
          <a:ln/>
        </p:spPr>
      </p:sp>
      <p:sp>
        <p:nvSpPr>
          <p:cNvPr id="73" name="Text 66"/>
          <p:cNvSpPr/>
          <p:nvPr/>
        </p:nvSpPr>
        <p:spPr>
          <a:xfrm>
            <a:off x="6892156" y="1628552"/>
            <a:ext cx="2052184" cy="1095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30" b="1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Plans approved without major revision</a:t>
            </a:r>
            <a:endParaRPr lang="en-US" sz="630" dirty="0"/>
          </a:p>
        </p:txBody>
      </p:sp>
      <p:sp>
        <p:nvSpPr>
          <p:cNvPr id="74" name="Text 67"/>
          <p:cNvSpPr/>
          <p:nvPr/>
        </p:nvSpPr>
        <p:spPr>
          <a:xfrm>
            <a:off x="6892156" y="1743075"/>
            <a:ext cx="1796311" cy="904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520" dirty="0">
                <a:solidFill>
                  <a:srgbClr val="77777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vs. baseline | Pyramid Principle in practice</a:t>
            </a:r>
            <a:endParaRPr lang="en-US" sz="520" dirty="0"/>
          </a:p>
        </p:txBody>
      </p:sp>
      <p:sp>
        <p:nvSpPr>
          <p:cNvPr id="75" name="Shape 68"/>
          <p:cNvSpPr/>
          <p:nvPr/>
        </p:nvSpPr>
        <p:spPr>
          <a:xfrm>
            <a:off x="6176851" y="1913334"/>
            <a:ext cx="2505075" cy="285750"/>
          </a:xfrm>
          <a:prstGeom prst="roundRect">
            <a:avLst>
              <a:gd name="adj" fmla="val 10240"/>
            </a:avLst>
          </a:prstGeom>
          <a:solidFill>
            <a:srgbClr val="EAF6F2"/>
          </a:solidFill>
          <a:ln/>
        </p:spPr>
      </p:sp>
      <p:sp>
        <p:nvSpPr>
          <p:cNvPr id="76" name="Text 69"/>
          <p:cNvSpPr/>
          <p:nvPr/>
        </p:nvSpPr>
        <p:spPr>
          <a:xfrm>
            <a:off x="6066889" y="1924348"/>
            <a:ext cx="641836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480" b="1" dirty="0">
                <a:solidFill>
                  <a:srgbClr val="006B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−30%</a:t>
            </a:r>
            <a:endParaRPr lang="en-US" sz="1480" dirty="0"/>
          </a:p>
        </p:txBody>
      </p:sp>
      <p:sp>
        <p:nvSpPr>
          <p:cNvPr id="77" name="Shape 70"/>
          <p:cNvSpPr/>
          <p:nvPr/>
        </p:nvSpPr>
        <p:spPr>
          <a:xfrm>
            <a:off x="6771531" y="1953816"/>
            <a:ext cx="9525" cy="204787"/>
          </a:xfrm>
          <a:prstGeom prst="rect">
            <a:avLst/>
          </a:prstGeom>
          <a:solidFill>
            <a:srgbClr val="C8E8E0"/>
          </a:solidFill>
          <a:ln/>
        </p:spPr>
      </p:sp>
      <p:sp>
        <p:nvSpPr>
          <p:cNvPr id="78" name="Text 71"/>
          <p:cNvSpPr/>
          <p:nvPr/>
        </p:nvSpPr>
        <p:spPr>
          <a:xfrm>
            <a:off x="6843861" y="1951955"/>
            <a:ext cx="1507837" cy="1095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30" b="1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Avg. revision cycles per plan</a:t>
            </a:r>
            <a:endParaRPr lang="en-US" sz="630" dirty="0"/>
          </a:p>
        </p:txBody>
      </p:sp>
      <p:sp>
        <p:nvSpPr>
          <p:cNvPr id="79" name="Text 72"/>
          <p:cNvSpPr/>
          <p:nvPr/>
        </p:nvSpPr>
        <p:spPr>
          <a:xfrm>
            <a:off x="6843861" y="2066479"/>
            <a:ext cx="1653719" cy="904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520" dirty="0">
                <a:solidFill>
                  <a:srgbClr val="77777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vs. baseline | Primary efficiency metric</a:t>
            </a:r>
            <a:endParaRPr lang="en-US" sz="520" dirty="0"/>
          </a:p>
        </p:txBody>
      </p:sp>
      <p:sp>
        <p:nvSpPr>
          <p:cNvPr id="80" name="Shape 73"/>
          <p:cNvSpPr/>
          <p:nvPr/>
        </p:nvSpPr>
        <p:spPr>
          <a:xfrm>
            <a:off x="6176851" y="2236738"/>
            <a:ext cx="2505075" cy="285750"/>
          </a:xfrm>
          <a:prstGeom prst="roundRect">
            <a:avLst>
              <a:gd name="adj" fmla="val 10240"/>
            </a:avLst>
          </a:prstGeom>
          <a:solidFill>
            <a:srgbClr val="EAF6F2"/>
          </a:solidFill>
          <a:ln/>
        </p:spPr>
      </p:sp>
      <p:sp>
        <p:nvSpPr>
          <p:cNvPr id="81" name="Text 74"/>
          <p:cNvSpPr/>
          <p:nvPr/>
        </p:nvSpPr>
        <p:spPr>
          <a:xfrm>
            <a:off x="6066889" y="2247751"/>
            <a:ext cx="641836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480" b="1" dirty="0">
                <a:solidFill>
                  <a:srgbClr val="006B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−40%</a:t>
            </a:r>
            <a:endParaRPr lang="en-US" sz="1480" dirty="0"/>
          </a:p>
        </p:txBody>
      </p:sp>
      <p:sp>
        <p:nvSpPr>
          <p:cNvPr id="82" name="Shape 75"/>
          <p:cNvSpPr/>
          <p:nvPr/>
        </p:nvSpPr>
        <p:spPr>
          <a:xfrm>
            <a:off x="6771531" y="2277219"/>
            <a:ext cx="9525" cy="204787"/>
          </a:xfrm>
          <a:prstGeom prst="rect">
            <a:avLst/>
          </a:prstGeom>
          <a:solidFill>
            <a:srgbClr val="C8E8E0"/>
          </a:solidFill>
          <a:ln/>
        </p:spPr>
      </p:sp>
      <p:sp>
        <p:nvSpPr>
          <p:cNvPr id="83" name="Text 76"/>
          <p:cNvSpPr/>
          <p:nvPr/>
        </p:nvSpPr>
        <p:spPr>
          <a:xfrm>
            <a:off x="6843861" y="2275359"/>
            <a:ext cx="1716985" cy="1095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30" b="1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Leadership review time per plan</a:t>
            </a:r>
            <a:endParaRPr lang="en-US" sz="630" dirty="0"/>
          </a:p>
        </p:txBody>
      </p:sp>
      <p:sp>
        <p:nvSpPr>
          <p:cNvPr id="84" name="Text 77"/>
          <p:cNvSpPr/>
          <p:nvPr/>
        </p:nvSpPr>
        <p:spPr>
          <a:xfrm>
            <a:off x="6843861" y="2389882"/>
            <a:ext cx="1498647" cy="904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520" dirty="0">
                <a:solidFill>
                  <a:srgbClr val="77777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vs. baseline | Senior capacity freed</a:t>
            </a:r>
            <a:endParaRPr lang="en-US" sz="520" dirty="0"/>
          </a:p>
        </p:txBody>
      </p:sp>
      <p:sp>
        <p:nvSpPr>
          <p:cNvPr id="85" name="Shape 78"/>
          <p:cNvSpPr/>
          <p:nvPr/>
        </p:nvSpPr>
        <p:spPr>
          <a:xfrm>
            <a:off x="6176851" y="2560141"/>
            <a:ext cx="2505075" cy="285750"/>
          </a:xfrm>
          <a:prstGeom prst="roundRect">
            <a:avLst>
              <a:gd name="adj" fmla="val 10240"/>
            </a:avLst>
          </a:prstGeom>
          <a:solidFill>
            <a:srgbClr val="F3F3F3"/>
          </a:solidFill>
          <a:ln/>
        </p:spPr>
      </p:sp>
      <p:sp>
        <p:nvSpPr>
          <p:cNvPr id="86" name="Text 79"/>
          <p:cNvSpPr/>
          <p:nvPr/>
        </p:nvSpPr>
        <p:spPr>
          <a:xfrm>
            <a:off x="6037778" y="2571155"/>
            <a:ext cx="767983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480" b="1" dirty="0">
                <a:solidFill>
                  <a:srgbClr val="006B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≥80%</a:t>
            </a:r>
            <a:endParaRPr lang="en-US" sz="1480" dirty="0"/>
          </a:p>
        </p:txBody>
      </p:sp>
      <p:sp>
        <p:nvSpPr>
          <p:cNvPr id="87" name="Shape 80"/>
          <p:cNvSpPr/>
          <p:nvPr/>
        </p:nvSpPr>
        <p:spPr>
          <a:xfrm>
            <a:off x="6868567" y="2600623"/>
            <a:ext cx="9525" cy="204787"/>
          </a:xfrm>
          <a:prstGeom prst="rect">
            <a:avLst/>
          </a:prstGeom>
          <a:solidFill>
            <a:srgbClr val="C8E8E0"/>
          </a:solidFill>
          <a:ln/>
        </p:spPr>
      </p:sp>
      <p:sp>
        <p:nvSpPr>
          <p:cNvPr id="88" name="Text 81"/>
          <p:cNvSpPr/>
          <p:nvPr/>
        </p:nvSpPr>
        <p:spPr>
          <a:xfrm>
            <a:off x="6940897" y="2598762"/>
            <a:ext cx="1669584" cy="1095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30" b="1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Sustained promoter trust score</a:t>
            </a:r>
            <a:endParaRPr lang="en-US" sz="630" dirty="0"/>
          </a:p>
        </p:txBody>
      </p:sp>
      <p:sp>
        <p:nvSpPr>
          <p:cNvPr id="89" name="Text 82"/>
          <p:cNvSpPr/>
          <p:nvPr/>
        </p:nvSpPr>
        <p:spPr>
          <a:xfrm>
            <a:off x="6940897" y="2713286"/>
            <a:ext cx="1645883" cy="904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520" dirty="0">
                <a:solidFill>
                  <a:srgbClr val="77777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"Would use again" — ongoing adoption</a:t>
            </a:r>
            <a:endParaRPr lang="en-US" sz="520" dirty="0"/>
          </a:p>
        </p:txBody>
      </p:sp>
      <p:sp>
        <p:nvSpPr>
          <p:cNvPr id="90" name="Shape 83"/>
          <p:cNvSpPr/>
          <p:nvPr/>
        </p:nvSpPr>
        <p:spPr>
          <a:xfrm>
            <a:off x="6176851" y="2883545"/>
            <a:ext cx="2505075" cy="285750"/>
          </a:xfrm>
          <a:prstGeom prst="roundRect">
            <a:avLst>
              <a:gd name="adj" fmla="val 10240"/>
            </a:avLst>
          </a:prstGeom>
          <a:solidFill>
            <a:srgbClr val="F3F3F3"/>
          </a:solidFill>
          <a:ln/>
        </p:spPr>
      </p:sp>
      <p:sp>
        <p:nvSpPr>
          <p:cNvPr id="91" name="Text 84"/>
          <p:cNvSpPr/>
          <p:nvPr/>
        </p:nvSpPr>
        <p:spPr>
          <a:xfrm>
            <a:off x="6052401" y="2894558"/>
            <a:ext cx="704619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480" b="1" dirty="0">
                <a:solidFill>
                  <a:srgbClr val="006B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100%</a:t>
            </a:r>
            <a:endParaRPr lang="en-US" sz="1480" dirty="0"/>
          </a:p>
        </p:txBody>
      </p:sp>
      <p:sp>
        <p:nvSpPr>
          <p:cNvPr id="92" name="Shape 85"/>
          <p:cNvSpPr/>
          <p:nvPr/>
        </p:nvSpPr>
        <p:spPr>
          <a:xfrm>
            <a:off x="6819826" y="2924026"/>
            <a:ext cx="9525" cy="204787"/>
          </a:xfrm>
          <a:prstGeom prst="rect">
            <a:avLst/>
          </a:prstGeom>
          <a:solidFill>
            <a:srgbClr val="C8E8E0"/>
          </a:solidFill>
          <a:ln/>
        </p:spPr>
      </p:sp>
      <p:sp>
        <p:nvSpPr>
          <p:cNvPr id="93" name="Text 86"/>
          <p:cNvSpPr/>
          <p:nvPr/>
        </p:nvSpPr>
        <p:spPr>
          <a:xfrm>
            <a:off x="6892156" y="2922166"/>
            <a:ext cx="1933679" cy="1095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30" b="1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Recommendations traceable to data</a:t>
            </a:r>
            <a:endParaRPr lang="en-US" sz="630" dirty="0"/>
          </a:p>
        </p:txBody>
      </p:sp>
      <p:sp>
        <p:nvSpPr>
          <p:cNvPr id="94" name="Text 87"/>
          <p:cNvSpPr/>
          <p:nvPr/>
        </p:nvSpPr>
        <p:spPr>
          <a:xfrm>
            <a:off x="6892156" y="3036689"/>
            <a:ext cx="2140796" cy="904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520" dirty="0">
                <a:solidFill>
                  <a:srgbClr val="77777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Historical deal or codified principle — no fabrication</a:t>
            </a:r>
            <a:endParaRPr lang="en-US" sz="520" dirty="0"/>
          </a:p>
        </p:txBody>
      </p:sp>
      <p:sp>
        <p:nvSpPr>
          <p:cNvPr id="95" name="Shape 88"/>
          <p:cNvSpPr/>
          <p:nvPr/>
        </p:nvSpPr>
        <p:spPr>
          <a:xfrm>
            <a:off x="6176851" y="3206948"/>
            <a:ext cx="2505075" cy="285750"/>
          </a:xfrm>
          <a:prstGeom prst="roundRect">
            <a:avLst>
              <a:gd name="adj" fmla="val 10240"/>
            </a:avLst>
          </a:prstGeom>
          <a:solidFill>
            <a:srgbClr val="F3F3F3"/>
          </a:solidFill>
          <a:ln/>
        </p:spPr>
      </p:sp>
      <p:sp>
        <p:nvSpPr>
          <p:cNvPr id="96" name="Text 89"/>
          <p:cNvSpPr/>
          <p:nvPr/>
        </p:nvSpPr>
        <p:spPr>
          <a:xfrm>
            <a:off x="6037778" y="3217962"/>
            <a:ext cx="767983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480" b="1" dirty="0">
                <a:solidFill>
                  <a:srgbClr val="006B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≥80%</a:t>
            </a:r>
            <a:endParaRPr lang="en-US" sz="1480" dirty="0"/>
          </a:p>
        </p:txBody>
      </p:sp>
      <p:sp>
        <p:nvSpPr>
          <p:cNvPr id="97" name="Shape 90"/>
          <p:cNvSpPr/>
          <p:nvPr/>
        </p:nvSpPr>
        <p:spPr>
          <a:xfrm>
            <a:off x="6868567" y="3247430"/>
            <a:ext cx="9525" cy="204787"/>
          </a:xfrm>
          <a:prstGeom prst="rect">
            <a:avLst/>
          </a:prstGeom>
          <a:solidFill>
            <a:srgbClr val="C8E8E0"/>
          </a:solidFill>
          <a:ln/>
        </p:spPr>
      </p:sp>
      <p:sp>
        <p:nvSpPr>
          <p:cNvPr id="98" name="Text 91"/>
          <p:cNvSpPr/>
          <p:nvPr/>
        </p:nvSpPr>
        <p:spPr>
          <a:xfrm>
            <a:off x="6940897" y="3245569"/>
            <a:ext cx="2166431" cy="1095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30" b="1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Leadership agreement with AI reasoning</a:t>
            </a:r>
            <a:endParaRPr lang="en-US" sz="630" dirty="0"/>
          </a:p>
        </p:txBody>
      </p:sp>
      <p:sp>
        <p:nvSpPr>
          <p:cNvPr id="99" name="Text 92"/>
          <p:cNvSpPr/>
          <p:nvPr/>
        </p:nvSpPr>
        <p:spPr>
          <a:xfrm>
            <a:off x="6940897" y="3360093"/>
            <a:ext cx="1814788" cy="904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520" dirty="0">
                <a:solidFill>
                  <a:srgbClr val="77777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Logic validated — not only output approved</a:t>
            </a:r>
            <a:endParaRPr lang="en-US" sz="520" dirty="0"/>
          </a:p>
        </p:txBody>
      </p:sp>
      <p:sp>
        <p:nvSpPr>
          <p:cNvPr id="100" name="Shape 93"/>
          <p:cNvSpPr/>
          <p:nvPr/>
        </p:nvSpPr>
        <p:spPr>
          <a:xfrm>
            <a:off x="347663" y="4707731"/>
            <a:ext cx="8448675" cy="342900"/>
          </a:xfrm>
          <a:prstGeom prst="roundRect">
            <a:avLst>
              <a:gd name="adj" fmla="val 10667"/>
            </a:avLst>
          </a:prstGeom>
          <a:solidFill>
            <a:srgbClr val="006B5C"/>
          </a:solidFill>
          <a:ln/>
        </p:spPr>
      </p:sp>
      <p:sp>
        <p:nvSpPr>
          <p:cNvPr id="101" name="Text 94"/>
          <p:cNvSpPr/>
          <p:nvPr/>
        </p:nvSpPr>
        <p:spPr>
          <a:xfrm>
            <a:off x="502816" y="4827017"/>
            <a:ext cx="1052297" cy="952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550" b="1" spc="55" kern="0" dirty="0">
                <a:solidFill>
                  <a:srgbClr val="EAF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STRATEGIC INTENT</a:t>
            </a:r>
            <a:endParaRPr lang="en-US" sz="550" dirty="0"/>
          </a:p>
        </p:txBody>
      </p:sp>
      <p:sp>
        <p:nvSpPr>
          <p:cNvPr id="102" name="Shape 95"/>
          <p:cNvSpPr/>
          <p:nvPr/>
        </p:nvSpPr>
        <p:spPr>
          <a:xfrm>
            <a:off x="1385962" y="4795800"/>
            <a:ext cx="9525" cy="166688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103" name="Text 96"/>
          <p:cNvSpPr/>
          <p:nvPr/>
        </p:nvSpPr>
        <p:spPr>
          <a:xfrm>
            <a:off x="1513136" y="4758854"/>
            <a:ext cx="9270117" cy="2346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47"/>
              </a:lnSpc>
              <a:buNone/>
            </a:pPr>
            <a:r>
              <a:rPr lang="en-US" sz="68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Promoter AI does not improve a broken process — it removes the root cause by institutionalizing the senior expertise that the process depends on. Every promoter gains access</a:t>
            </a:r>
            <a:endParaRPr lang="en-US" sz="680" dirty="0"/>
          </a:p>
          <a:p>
            <a:pPr algn="l" indent="0" marL="0">
              <a:lnSpc>
                <a:spcPts val="947"/>
              </a:lnSpc>
              <a:buNone/>
            </a:pPr>
            <a:r>
              <a:rPr lang="en-US" sz="68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 the same depth of judgment that today only a handful of leaders carry.</a:t>
            </a:r>
            <a:endParaRPr lang="en-US" sz="680" dirty="0"/>
          </a:p>
        </p:txBody>
      </p:sp>
      <p:pic>
        <p:nvPicPr>
          <p:cNvPr id="104" name="Image 5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57237" y="1376549"/>
            <a:ext cx="2505075" cy="157163"/>
          </a:xfrm>
          <a:prstGeom prst="rect">
            <a:avLst/>
          </a:prstGeom>
        </p:spPr>
      </p:pic>
      <p:pic>
        <p:nvPicPr>
          <p:cNvPr id="105" name="Image 6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57237" y="1581038"/>
            <a:ext cx="2505075" cy="371475"/>
          </a:xfrm>
          <a:prstGeom prst="rect">
            <a:avLst/>
          </a:prstGeom>
        </p:spPr>
      </p:pic>
      <p:pic>
        <p:nvPicPr>
          <p:cNvPr id="106" name="Image 7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57237" y="2082217"/>
            <a:ext cx="2505075" cy="371475"/>
          </a:xfrm>
          <a:prstGeom prst="rect">
            <a:avLst/>
          </a:prstGeom>
        </p:spPr>
      </p:pic>
      <p:pic>
        <p:nvPicPr>
          <p:cNvPr id="107" name="Image 8" descr="preencoded.png">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57237" y="2583396"/>
            <a:ext cx="2505075" cy="371475"/>
          </a:xfrm>
          <a:prstGeom prst="rect">
            <a:avLst/>
          </a:prstGeom>
        </p:spPr>
      </p:pic>
      <p:pic>
        <p:nvPicPr>
          <p:cNvPr id="108" name="Image 9" descr="preencoded.png">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457237" y="3084575"/>
            <a:ext cx="2505075" cy="371475"/>
          </a:xfrm>
          <a:prstGeom prst="rect">
            <a:avLst/>
          </a:prstGeom>
        </p:spPr>
      </p:pic>
      <p:pic>
        <p:nvPicPr>
          <p:cNvPr id="109" name="Image 10" descr="preencoded.png">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457237" y="3585753"/>
            <a:ext cx="2505075" cy="371475"/>
          </a:xfrm>
          <a:prstGeom prst="rect">
            <a:avLst/>
          </a:prstGeom>
        </p:spPr>
      </p:pic>
      <p:pic>
        <p:nvPicPr>
          <p:cNvPr id="110" name="Image 11" descr="preencoded.png">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3314663" y="1380009"/>
            <a:ext cx="2505075" cy="533400"/>
          </a:xfrm>
          <a:prstGeom prst="rect">
            <a:avLst/>
          </a:prstGeom>
        </p:spPr>
      </p:pic>
      <p:pic>
        <p:nvPicPr>
          <p:cNvPr id="111" name="Image 12" descr="preencoded.png">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3314663" y="1964494"/>
            <a:ext cx="2505075" cy="157163"/>
          </a:xfrm>
          <a:prstGeom prst="rect">
            <a:avLst/>
          </a:prstGeom>
        </p:spPr>
      </p:pic>
      <p:pic>
        <p:nvPicPr>
          <p:cNvPr id="112" name="Image 13" descr="preencoded.png">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6176851" y="1381311"/>
            <a:ext cx="2505075" cy="15716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-149"/>
            <a:ext cx="9144000" cy="28575"/>
          </a:xfrm>
          <a:prstGeom prst="rect">
            <a:avLst/>
          </a:prstGeom>
          <a:solidFill>
            <a:srgbClr val="006B5C"/>
          </a:solidFill>
          <a:ln/>
        </p:spPr>
      </p:sp>
      <p:sp>
        <p:nvSpPr>
          <p:cNvPr id="4" name="Text 2"/>
          <p:cNvSpPr/>
          <p:nvPr/>
        </p:nvSpPr>
        <p:spPr>
          <a:xfrm>
            <a:off x="347439" y="148754"/>
            <a:ext cx="3532473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60" b="1" spc="60" kern="0" dirty="0">
                <a:solidFill>
                  <a:srgbClr val="006B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ABC EVENTS — PROMOTER AI SOLUTION ARCHITECTURE</a:t>
            </a:r>
            <a:endParaRPr lang="en-US" sz="660" dirty="0"/>
          </a:p>
        </p:txBody>
      </p:sp>
      <p:sp>
        <p:nvSpPr>
          <p:cNvPr id="5" name="Text 3"/>
          <p:cNvSpPr/>
          <p:nvPr/>
        </p:nvSpPr>
        <p:spPr>
          <a:xfrm>
            <a:off x="7245772" y="150763"/>
            <a:ext cx="2073176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590" dirty="0">
                <a:solidFill>
                  <a:srgbClr val="8888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| Discovery Phase | July 2026</a:t>
            </a:r>
            <a:endParaRPr lang="en-US" sz="590" dirty="0"/>
          </a:p>
        </p:txBody>
      </p:sp>
      <p:sp>
        <p:nvSpPr>
          <p:cNvPr id="6" name="Text 4"/>
          <p:cNvSpPr/>
          <p:nvPr/>
        </p:nvSpPr>
        <p:spPr>
          <a:xfrm>
            <a:off x="347439" y="296912"/>
            <a:ext cx="9472977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324"/>
              </a:spcAft>
              <a:buNone/>
            </a:pPr>
            <a:r>
              <a:rPr lang="en-US" sz="1400" b="1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AI-Powered Decision Intelligence — Grounded in Data, Governed by Leadership —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47439" y="514424"/>
            <a:ext cx="9744812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324"/>
              </a:spcAft>
              <a:buNone/>
            </a:pPr>
            <a:r>
              <a:rPr lang="en-US" sz="1400" b="1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Enables ABC Events to Scale Deal Expertise Across Every Promoter and Every Market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46472" y="786110"/>
            <a:ext cx="504825" cy="14288"/>
          </a:xfrm>
          <a:prstGeom prst="rect">
            <a:avLst/>
          </a:prstGeom>
          <a:solidFill>
            <a:srgbClr val="006B5C"/>
          </a:solidFill>
          <a:ln/>
        </p:spPr>
      </p:sp>
      <p:sp>
        <p:nvSpPr>
          <p:cNvPr id="9" name="Shape 7"/>
          <p:cNvSpPr/>
          <p:nvPr/>
        </p:nvSpPr>
        <p:spPr>
          <a:xfrm>
            <a:off x="346286" y="851260"/>
            <a:ext cx="4395787" cy="3424238"/>
          </a:xfrm>
          <a:prstGeom prst="roundRect">
            <a:avLst>
              <a:gd name="adj" fmla="val 1202"/>
            </a:avLst>
          </a:prstGeom>
          <a:solidFill>
            <a:srgbClr val="FFFFFF"/>
          </a:solidFill>
          <a:ln w="4763">
            <a:solidFill>
              <a:srgbClr val="C8E8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1888" y="969838"/>
            <a:ext cx="2414372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344"/>
              </a:spcAft>
              <a:buNone/>
            </a:pPr>
            <a:r>
              <a:rPr lang="en-US" sz="580" b="1" spc="58" kern="0" dirty="0">
                <a:solidFill>
                  <a:srgbClr val="006B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ARCHITECTURE — BUSINESS TO OUTCOMES</a:t>
            </a:r>
            <a:endParaRPr lang="en-US" sz="580" dirty="0"/>
          </a:p>
        </p:txBody>
      </p:sp>
      <p:sp>
        <p:nvSpPr>
          <p:cNvPr id="11" name="Shape 9"/>
          <p:cNvSpPr/>
          <p:nvPr/>
        </p:nvSpPr>
        <p:spPr>
          <a:xfrm>
            <a:off x="461739" y="1180616"/>
            <a:ext cx="600075" cy="100013"/>
          </a:xfrm>
          <a:prstGeom prst="roundRect">
            <a:avLst>
              <a:gd name="adj" fmla="val 18286"/>
            </a:avLst>
          </a:prstGeom>
          <a:solidFill>
            <a:srgbClr val="006B5C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65" y="1188095"/>
            <a:ext cx="730061" cy="76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50" b="1" spc="45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BUSINESS NEED</a:t>
            </a:r>
            <a:endParaRPr lang="en-US" sz="450" dirty="0"/>
          </a:p>
        </p:txBody>
      </p:sp>
      <p:sp>
        <p:nvSpPr>
          <p:cNvPr id="13" name="Shape 11"/>
          <p:cNvSpPr/>
          <p:nvPr/>
        </p:nvSpPr>
        <p:spPr>
          <a:xfrm>
            <a:off x="461590" y="1304925"/>
            <a:ext cx="1985963" cy="252412"/>
          </a:xfrm>
          <a:prstGeom prst="roundRect">
            <a:avLst>
              <a:gd name="adj" fmla="val 10143"/>
            </a:avLst>
          </a:prstGeom>
          <a:solidFill>
            <a:srgbClr val="EAF6F2"/>
          </a:solidFill>
          <a:ln/>
        </p:spPr>
      </p:sp>
      <p:sp>
        <p:nvSpPr>
          <p:cNvPr id="14" name="Text 12"/>
          <p:cNvSpPr/>
          <p:nvPr/>
        </p:nvSpPr>
        <p:spPr>
          <a:xfrm>
            <a:off x="1004906" y="1334393"/>
            <a:ext cx="899257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006B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Touring Promoter</a:t>
            </a:r>
            <a:endParaRPr lang="en-US" sz="580" dirty="0"/>
          </a:p>
        </p:txBody>
      </p:sp>
      <p:sp>
        <p:nvSpPr>
          <p:cNvPr id="15" name="Text 13"/>
          <p:cNvSpPr/>
          <p:nvPr/>
        </p:nvSpPr>
        <p:spPr>
          <a:xfrm>
            <a:off x="1005293" y="1439317"/>
            <a:ext cx="898483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9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Authors business plan</a:t>
            </a:r>
            <a:endParaRPr lang="en-US" sz="490" dirty="0"/>
          </a:p>
        </p:txBody>
      </p:sp>
      <p:sp>
        <p:nvSpPr>
          <p:cNvPr id="16" name="Text 14"/>
          <p:cNvSpPr/>
          <p:nvPr/>
        </p:nvSpPr>
        <p:spPr>
          <a:xfrm>
            <a:off x="2502098" y="1360438"/>
            <a:ext cx="166658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90" b="1" dirty="0">
                <a:solidFill>
                  <a:srgbClr val="006B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790" dirty="0"/>
          </a:p>
        </p:txBody>
      </p:sp>
      <p:sp>
        <p:nvSpPr>
          <p:cNvPr id="17" name="Shape 15"/>
          <p:cNvSpPr/>
          <p:nvPr/>
        </p:nvSpPr>
        <p:spPr>
          <a:xfrm>
            <a:off x="2640881" y="1304925"/>
            <a:ext cx="1985963" cy="252412"/>
          </a:xfrm>
          <a:prstGeom prst="roundRect">
            <a:avLst>
              <a:gd name="adj" fmla="val 10143"/>
            </a:avLst>
          </a:prstGeom>
          <a:solidFill>
            <a:srgbClr val="F0F0F0"/>
          </a:solidFill>
          <a:ln/>
        </p:spPr>
      </p:sp>
      <p:sp>
        <p:nvSpPr>
          <p:cNvPr id="18" name="Text 16"/>
          <p:cNvSpPr/>
          <p:nvPr/>
        </p:nvSpPr>
        <p:spPr>
          <a:xfrm>
            <a:off x="3002511" y="1334393"/>
            <a:ext cx="1262702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404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Business Planning System</a:t>
            </a:r>
            <a:endParaRPr lang="en-US" sz="580" dirty="0"/>
          </a:p>
        </p:txBody>
      </p:sp>
      <p:sp>
        <p:nvSpPr>
          <p:cNvPr id="19" name="Text 17"/>
          <p:cNvSpPr/>
          <p:nvPr/>
        </p:nvSpPr>
        <p:spPr>
          <a:xfrm>
            <a:off x="3285191" y="1439317"/>
            <a:ext cx="697267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9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plan context</a:t>
            </a:r>
            <a:endParaRPr lang="en-US" sz="490" dirty="0"/>
          </a:p>
        </p:txBody>
      </p:sp>
      <p:sp>
        <p:nvSpPr>
          <p:cNvPr id="20" name="Shape 18"/>
          <p:cNvSpPr/>
          <p:nvPr/>
        </p:nvSpPr>
        <p:spPr>
          <a:xfrm>
            <a:off x="2539380" y="1559347"/>
            <a:ext cx="9525" cy="90488"/>
          </a:xfrm>
          <a:prstGeom prst="rect">
            <a:avLst/>
          </a:prstGeom>
          <a:solidFill>
            <a:srgbClr val="006B5C"/>
          </a:solidFill>
          <a:ln/>
        </p:spPr>
      </p:sp>
      <p:sp>
        <p:nvSpPr>
          <p:cNvPr id="21" name="Shape 19"/>
          <p:cNvSpPr/>
          <p:nvPr/>
        </p:nvSpPr>
        <p:spPr>
          <a:xfrm>
            <a:off x="461256" y="1667210"/>
            <a:ext cx="819150" cy="100013"/>
          </a:xfrm>
          <a:prstGeom prst="roundRect">
            <a:avLst>
              <a:gd name="adj" fmla="val 18286"/>
            </a:avLst>
          </a:prstGeom>
          <a:solidFill>
            <a:srgbClr val="006B5C"/>
          </a:solidFill>
          <a:ln/>
        </p:spPr>
      </p:sp>
      <p:sp>
        <p:nvSpPr>
          <p:cNvPr id="22" name="Text 20"/>
          <p:cNvSpPr/>
          <p:nvPr/>
        </p:nvSpPr>
        <p:spPr>
          <a:xfrm>
            <a:off x="502965" y="1674688"/>
            <a:ext cx="1013601" cy="76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50" b="1" spc="45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CAPABILITY DOMAINS</a:t>
            </a:r>
            <a:endParaRPr lang="en-US" sz="450" dirty="0"/>
          </a:p>
        </p:txBody>
      </p:sp>
      <p:sp>
        <p:nvSpPr>
          <p:cNvPr id="23" name="Shape 21"/>
          <p:cNvSpPr/>
          <p:nvPr/>
        </p:nvSpPr>
        <p:spPr>
          <a:xfrm>
            <a:off x="462223" y="1791630"/>
            <a:ext cx="1009650" cy="142875"/>
          </a:xfrm>
          <a:prstGeom prst="roundRect">
            <a:avLst>
              <a:gd name="adj" fmla="val 17920"/>
            </a:avLst>
          </a:prstGeom>
          <a:solidFill>
            <a:srgbClr val="EAF6F2"/>
          </a:solidFill>
          <a:ln/>
        </p:spPr>
      </p:sp>
      <p:sp>
        <p:nvSpPr>
          <p:cNvPr id="24" name="Text 22"/>
          <p:cNvSpPr/>
          <p:nvPr/>
        </p:nvSpPr>
        <p:spPr>
          <a:xfrm>
            <a:off x="576151" y="1813694"/>
            <a:ext cx="781720" cy="904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20" b="1" dirty="0">
                <a:solidFill>
                  <a:srgbClr val="006B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Deal Intelligence</a:t>
            </a:r>
            <a:endParaRPr lang="en-US" sz="520" dirty="0"/>
          </a:p>
        </p:txBody>
      </p:sp>
      <p:sp>
        <p:nvSpPr>
          <p:cNvPr id="25" name="Shape 23"/>
          <p:cNvSpPr/>
          <p:nvPr/>
        </p:nvSpPr>
        <p:spPr>
          <a:xfrm>
            <a:off x="1513619" y="1791630"/>
            <a:ext cx="1009650" cy="142875"/>
          </a:xfrm>
          <a:prstGeom prst="roundRect">
            <a:avLst>
              <a:gd name="adj" fmla="val 17920"/>
            </a:avLst>
          </a:prstGeom>
          <a:solidFill>
            <a:srgbClr val="EAF6F2"/>
          </a:solidFill>
          <a:ln/>
        </p:spPr>
      </p:sp>
      <p:sp>
        <p:nvSpPr>
          <p:cNvPr id="26" name="Text 24"/>
          <p:cNvSpPr/>
          <p:nvPr/>
        </p:nvSpPr>
        <p:spPr>
          <a:xfrm>
            <a:off x="1466188" y="1813694"/>
            <a:ext cx="1104439" cy="904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20" b="1" dirty="0">
                <a:solidFill>
                  <a:srgbClr val="006B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Negotiation Intelligence</a:t>
            </a:r>
            <a:endParaRPr lang="en-US" sz="520" dirty="0"/>
          </a:p>
        </p:txBody>
      </p:sp>
      <p:sp>
        <p:nvSpPr>
          <p:cNvPr id="27" name="Shape 25"/>
          <p:cNvSpPr/>
          <p:nvPr/>
        </p:nvSpPr>
        <p:spPr>
          <a:xfrm>
            <a:off x="2565016" y="1791630"/>
            <a:ext cx="1009650" cy="142875"/>
          </a:xfrm>
          <a:prstGeom prst="roundRect">
            <a:avLst>
              <a:gd name="adj" fmla="val 17920"/>
            </a:avLst>
          </a:prstGeom>
          <a:solidFill>
            <a:srgbClr val="EAF6F2"/>
          </a:solidFill>
          <a:ln/>
        </p:spPr>
      </p:sp>
      <p:sp>
        <p:nvSpPr>
          <p:cNvPr id="28" name="Text 26"/>
          <p:cNvSpPr/>
          <p:nvPr/>
        </p:nvSpPr>
        <p:spPr>
          <a:xfrm>
            <a:off x="2579110" y="1813694"/>
            <a:ext cx="981388" cy="904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20" b="1" dirty="0">
                <a:solidFill>
                  <a:srgbClr val="006B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Planning Productivity</a:t>
            </a:r>
            <a:endParaRPr lang="en-US" sz="520" dirty="0"/>
          </a:p>
        </p:txBody>
      </p:sp>
      <p:sp>
        <p:nvSpPr>
          <p:cNvPr id="29" name="Shape 27"/>
          <p:cNvSpPr/>
          <p:nvPr/>
        </p:nvSpPr>
        <p:spPr>
          <a:xfrm>
            <a:off x="3616412" y="1791630"/>
            <a:ext cx="1009650" cy="142875"/>
          </a:xfrm>
          <a:prstGeom prst="roundRect">
            <a:avLst>
              <a:gd name="adj" fmla="val 17920"/>
            </a:avLst>
          </a:prstGeom>
          <a:solidFill>
            <a:srgbClr val="EAF6F2"/>
          </a:solidFill>
          <a:ln/>
        </p:spPr>
      </p:sp>
      <p:sp>
        <p:nvSpPr>
          <p:cNvPr id="30" name="Text 28"/>
          <p:cNvSpPr/>
          <p:nvPr/>
        </p:nvSpPr>
        <p:spPr>
          <a:xfrm>
            <a:off x="3590252" y="1813694"/>
            <a:ext cx="1061971" cy="904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20" b="1" dirty="0">
                <a:solidFill>
                  <a:srgbClr val="006B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Knowledge Governance</a:t>
            </a:r>
            <a:endParaRPr lang="en-US" sz="520" dirty="0"/>
          </a:p>
        </p:txBody>
      </p:sp>
      <p:sp>
        <p:nvSpPr>
          <p:cNvPr id="31" name="Shape 29"/>
          <p:cNvSpPr/>
          <p:nvPr/>
        </p:nvSpPr>
        <p:spPr>
          <a:xfrm>
            <a:off x="2539380" y="1936626"/>
            <a:ext cx="9525" cy="90488"/>
          </a:xfrm>
          <a:prstGeom prst="rect">
            <a:avLst/>
          </a:prstGeom>
          <a:solidFill>
            <a:srgbClr val="006B5C"/>
          </a:solidFill>
          <a:ln/>
        </p:spPr>
      </p:sp>
      <p:sp>
        <p:nvSpPr>
          <p:cNvPr id="32" name="Shape 30"/>
          <p:cNvSpPr/>
          <p:nvPr/>
        </p:nvSpPr>
        <p:spPr>
          <a:xfrm>
            <a:off x="461739" y="2044489"/>
            <a:ext cx="1462088" cy="100013"/>
          </a:xfrm>
          <a:prstGeom prst="roundRect">
            <a:avLst>
              <a:gd name="adj" fmla="val 18286"/>
            </a:avLst>
          </a:prstGeom>
          <a:solidFill>
            <a:srgbClr val="006B5C"/>
          </a:solidFill>
          <a:ln/>
        </p:spPr>
      </p:sp>
      <p:sp>
        <p:nvSpPr>
          <p:cNvPr id="33" name="Text 31"/>
          <p:cNvSpPr/>
          <p:nvPr/>
        </p:nvSpPr>
        <p:spPr>
          <a:xfrm>
            <a:off x="502965" y="2051968"/>
            <a:ext cx="1850678" cy="76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50" b="1" spc="45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PROMOTER AI PLATFORM — TECHNOLOGY</a:t>
            </a:r>
            <a:endParaRPr lang="en-US" sz="450" dirty="0"/>
          </a:p>
        </p:txBody>
      </p:sp>
      <p:sp>
        <p:nvSpPr>
          <p:cNvPr id="34" name="Shape 32"/>
          <p:cNvSpPr/>
          <p:nvPr/>
        </p:nvSpPr>
        <p:spPr>
          <a:xfrm>
            <a:off x="462967" y="2167272"/>
            <a:ext cx="4162425" cy="538163"/>
          </a:xfrm>
          <a:prstGeom prst="roundRect">
            <a:avLst>
              <a:gd name="adj" fmla="val 5947"/>
            </a:avLst>
          </a:prstGeom>
          <a:ln w="9525">
            <a:solidFill>
              <a:srgbClr val="006B5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43409" y="2209316"/>
            <a:ext cx="1304925" cy="214313"/>
          </a:xfrm>
          <a:prstGeom prst="roundRect">
            <a:avLst>
              <a:gd name="adj" fmla="val 9387"/>
            </a:avLst>
          </a:prstGeom>
          <a:solidFill>
            <a:srgbClr val="EAF6F2"/>
          </a:solidFill>
          <a:ln/>
        </p:spPr>
      </p:sp>
      <p:sp>
        <p:nvSpPr>
          <p:cNvPr id="36" name="Text 34"/>
          <p:cNvSpPr/>
          <p:nvPr/>
        </p:nvSpPr>
        <p:spPr>
          <a:xfrm>
            <a:off x="590252" y="2228701"/>
            <a:ext cx="1102697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90" b="1" dirty="0">
                <a:solidFill>
                  <a:srgbClr val="006B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Historical Deal Repository</a:t>
            </a:r>
            <a:endParaRPr lang="en-US" sz="490" dirty="0"/>
          </a:p>
        </p:txBody>
      </p:sp>
      <p:sp>
        <p:nvSpPr>
          <p:cNvPr id="37" name="Text 35"/>
          <p:cNvSpPr/>
          <p:nvPr/>
        </p:nvSpPr>
        <p:spPr>
          <a:xfrm>
            <a:off x="590252" y="2326779"/>
            <a:ext cx="1405391" cy="714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3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Closed deal actuals — forecast vs. actual</a:t>
            </a:r>
            <a:endParaRPr lang="en-US" sz="430" dirty="0"/>
          </a:p>
        </p:txBody>
      </p:sp>
      <p:sp>
        <p:nvSpPr>
          <p:cNvPr id="38" name="Shape 36"/>
          <p:cNvSpPr/>
          <p:nvPr/>
        </p:nvSpPr>
        <p:spPr>
          <a:xfrm>
            <a:off x="1891717" y="2209316"/>
            <a:ext cx="1304925" cy="214313"/>
          </a:xfrm>
          <a:prstGeom prst="roundRect">
            <a:avLst>
              <a:gd name="adj" fmla="val 9387"/>
            </a:avLst>
          </a:prstGeom>
          <a:solidFill>
            <a:srgbClr val="EAF6F2"/>
          </a:solidFill>
          <a:ln/>
        </p:spPr>
      </p:sp>
      <p:sp>
        <p:nvSpPr>
          <p:cNvPr id="39" name="Text 37"/>
          <p:cNvSpPr/>
          <p:nvPr/>
        </p:nvSpPr>
        <p:spPr>
          <a:xfrm>
            <a:off x="1938561" y="2228701"/>
            <a:ext cx="1031014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90" b="1" dirty="0">
                <a:solidFill>
                  <a:srgbClr val="006B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Codified Expertise Layer</a:t>
            </a:r>
            <a:endParaRPr lang="en-US" sz="490" dirty="0"/>
          </a:p>
        </p:txBody>
      </p:sp>
      <p:sp>
        <p:nvSpPr>
          <p:cNvPr id="40" name="Text 38"/>
          <p:cNvSpPr/>
          <p:nvPr/>
        </p:nvSpPr>
        <p:spPr>
          <a:xfrm>
            <a:off x="1938561" y="2326779"/>
            <a:ext cx="1529700" cy="714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3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Benchmarks, red lines — curated, versioned</a:t>
            </a:r>
            <a:endParaRPr lang="en-US" sz="430" dirty="0"/>
          </a:p>
        </p:txBody>
      </p:sp>
      <p:sp>
        <p:nvSpPr>
          <p:cNvPr id="41" name="Shape 39"/>
          <p:cNvSpPr/>
          <p:nvPr/>
        </p:nvSpPr>
        <p:spPr>
          <a:xfrm>
            <a:off x="3240025" y="2209316"/>
            <a:ext cx="1304925" cy="214313"/>
          </a:xfrm>
          <a:prstGeom prst="roundRect">
            <a:avLst>
              <a:gd name="adj" fmla="val 9387"/>
            </a:avLst>
          </a:prstGeom>
          <a:solidFill>
            <a:srgbClr val="EAF6F2"/>
          </a:solidFill>
          <a:ln/>
        </p:spPr>
      </p:sp>
      <p:sp>
        <p:nvSpPr>
          <p:cNvPr id="42" name="Text 40"/>
          <p:cNvSpPr/>
          <p:nvPr/>
        </p:nvSpPr>
        <p:spPr>
          <a:xfrm>
            <a:off x="3286869" y="2228701"/>
            <a:ext cx="946272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90" b="1" dirty="0">
                <a:solidFill>
                  <a:srgbClr val="006B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Business Rules Engine</a:t>
            </a:r>
            <a:endParaRPr lang="en-US" sz="490" dirty="0"/>
          </a:p>
        </p:txBody>
      </p:sp>
      <p:sp>
        <p:nvSpPr>
          <p:cNvPr id="43" name="Text 41"/>
          <p:cNvSpPr/>
          <p:nvPr/>
        </p:nvSpPr>
        <p:spPr>
          <a:xfrm>
            <a:off x="3286869" y="2326779"/>
            <a:ext cx="1516737" cy="714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3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Defensibility thresholds, cold-start handling</a:t>
            </a:r>
            <a:endParaRPr lang="en-US" sz="430" dirty="0"/>
          </a:p>
        </p:txBody>
      </p:sp>
      <p:sp>
        <p:nvSpPr>
          <p:cNvPr id="44" name="Shape 42"/>
          <p:cNvSpPr/>
          <p:nvPr/>
        </p:nvSpPr>
        <p:spPr>
          <a:xfrm>
            <a:off x="543409" y="2449078"/>
            <a:ext cx="1304925" cy="214313"/>
          </a:xfrm>
          <a:prstGeom prst="roundRect">
            <a:avLst>
              <a:gd name="adj" fmla="val 9387"/>
            </a:avLst>
          </a:prstGeom>
          <a:solidFill>
            <a:srgbClr val="006B5C"/>
          </a:solidFill>
          <a:ln/>
        </p:spPr>
      </p:sp>
      <p:sp>
        <p:nvSpPr>
          <p:cNvPr id="45" name="Text 43"/>
          <p:cNvSpPr/>
          <p:nvPr/>
        </p:nvSpPr>
        <p:spPr>
          <a:xfrm>
            <a:off x="590252" y="2468463"/>
            <a:ext cx="887745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9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Knowledge Retrieval</a:t>
            </a:r>
            <a:endParaRPr lang="en-US" sz="490" dirty="0"/>
          </a:p>
        </p:txBody>
      </p:sp>
      <p:sp>
        <p:nvSpPr>
          <p:cNvPr id="46" name="Text 44"/>
          <p:cNvSpPr/>
          <p:nvPr/>
        </p:nvSpPr>
        <p:spPr>
          <a:xfrm>
            <a:off x="590252" y="2566541"/>
            <a:ext cx="1380917" cy="714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30" dirty="0">
                <a:solidFill>
                  <a:srgbClr val="EAF6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Semantic search — grounding evidence</a:t>
            </a:r>
            <a:endParaRPr lang="en-US" sz="430" dirty="0"/>
          </a:p>
        </p:txBody>
      </p:sp>
      <p:sp>
        <p:nvSpPr>
          <p:cNvPr id="47" name="Shape 45"/>
          <p:cNvSpPr/>
          <p:nvPr/>
        </p:nvSpPr>
        <p:spPr>
          <a:xfrm>
            <a:off x="1891717" y="2449078"/>
            <a:ext cx="1304925" cy="214313"/>
          </a:xfrm>
          <a:prstGeom prst="roundRect">
            <a:avLst>
              <a:gd name="adj" fmla="val 9387"/>
            </a:avLst>
          </a:prstGeom>
          <a:solidFill>
            <a:srgbClr val="006B5C"/>
          </a:solidFill>
          <a:ln/>
        </p:spPr>
      </p:sp>
      <p:sp>
        <p:nvSpPr>
          <p:cNvPr id="48" name="Text 46"/>
          <p:cNvSpPr/>
          <p:nvPr/>
        </p:nvSpPr>
        <p:spPr>
          <a:xfrm>
            <a:off x="1938561" y="2468463"/>
            <a:ext cx="913381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9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LLM Reasoning Layer</a:t>
            </a:r>
            <a:endParaRPr lang="en-US" sz="490" dirty="0"/>
          </a:p>
        </p:txBody>
      </p:sp>
      <p:sp>
        <p:nvSpPr>
          <p:cNvPr id="49" name="Text 47"/>
          <p:cNvSpPr/>
          <p:nvPr/>
        </p:nvSpPr>
        <p:spPr>
          <a:xfrm>
            <a:off x="1938561" y="2566541"/>
            <a:ext cx="1407810" cy="714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30" dirty="0">
                <a:solidFill>
                  <a:srgbClr val="EAF6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Synthesizes evidence — never fabricates</a:t>
            </a:r>
            <a:endParaRPr lang="en-US" sz="430" dirty="0"/>
          </a:p>
        </p:txBody>
      </p:sp>
      <p:sp>
        <p:nvSpPr>
          <p:cNvPr id="50" name="Shape 48"/>
          <p:cNvSpPr/>
          <p:nvPr/>
        </p:nvSpPr>
        <p:spPr>
          <a:xfrm>
            <a:off x="3240025" y="2449078"/>
            <a:ext cx="1304925" cy="214313"/>
          </a:xfrm>
          <a:prstGeom prst="roundRect">
            <a:avLst>
              <a:gd name="adj" fmla="val 9387"/>
            </a:avLst>
          </a:prstGeom>
          <a:solidFill>
            <a:srgbClr val="006B5C"/>
          </a:solidFill>
          <a:ln/>
        </p:spPr>
      </p:sp>
      <p:sp>
        <p:nvSpPr>
          <p:cNvPr id="51" name="Text 49"/>
          <p:cNvSpPr/>
          <p:nvPr/>
        </p:nvSpPr>
        <p:spPr>
          <a:xfrm>
            <a:off x="3286869" y="2468463"/>
            <a:ext cx="1037109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9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Agents (4 Specialized)</a:t>
            </a:r>
            <a:endParaRPr lang="en-US" sz="490" dirty="0"/>
          </a:p>
        </p:txBody>
      </p:sp>
      <p:sp>
        <p:nvSpPr>
          <p:cNvPr id="52" name="Text 50"/>
          <p:cNvSpPr/>
          <p:nvPr/>
        </p:nvSpPr>
        <p:spPr>
          <a:xfrm>
            <a:off x="3286869" y="2566541"/>
            <a:ext cx="1046976" cy="714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30" dirty="0">
                <a:solidFill>
                  <a:srgbClr val="EAF6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Per-workflow advisory agents</a:t>
            </a:r>
            <a:endParaRPr lang="en-US" sz="430" dirty="0"/>
          </a:p>
        </p:txBody>
      </p:sp>
      <p:sp>
        <p:nvSpPr>
          <p:cNvPr id="53" name="Shape 51"/>
          <p:cNvSpPr/>
          <p:nvPr/>
        </p:nvSpPr>
        <p:spPr>
          <a:xfrm>
            <a:off x="2539380" y="2705919"/>
            <a:ext cx="9525" cy="90488"/>
          </a:xfrm>
          <a:prstGeom prst="rect">
            <a:avLst/>
          </a:prstGeom>
          <a:solidFill>
            <a:srgbClr val="006B5C"/>
          </a:solidFill>
          <a:ln/>
        </p:spPr>
      </p:sp>
      <p:sp>
        <p:nvSpPr>
          <p:cNvPr id="54" name="Shape 52"/>
          <p:cNvSpPr/>
          <p:nvPr/>
        </p:nvSpPr>
        <p:spPr>
          <a:xfrm>
            <a:off x="463004" y="2813782"/>
            <a:ext cx="442913" cy="100013"/>
          </a:xfrm>
          <a:prstGeom prst="roundRect">
            <a:avLst>
              <a:gd name="adj" fmla="val 18286"/>
            </a:avLst>
          </a:prstGeom>
          <a:solidFill>
            <a:srgbClr val="006B5C"/>
          </a:solidFill>
          <a:ln/>
        </p:spPr>
      </p:sp>
      <p:sp>
        <p:nvSpPr>
          <p:cNvPr id="55" name="Text 53"/>
          <p:cNvSpPr/>
          <p:nvPr/>
        </p:nvSpPr>
        <p:spPr>
          <a:xfrm>
            <a:off x="502965" y="2821260"/>
            <a:ext cx="529039" cy="76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50" b="1" spc="45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OUTCOMES</a:t>
            </a:r>
            <a:endParaRPr lang="en-US" sz="450" dirty="0"/>
          </a:p>
        </p:txBody>
      </p:sp>
      <p:sp>
        <p:nvSpPr>
          <p:cNvPr id="56" name="Shape 54"/>
          <p:cNvSpPr/>
          <p:nvPr/>
        </p:nvSpPr>
        <p:spPr>
          <a:xfrm>
            <a:off x="461665" y="2941104"/>
            <a:ext cx="1271588" cy="142875"/>
          </a:xfrm>
          <a:prstGeom prst="roundRect">
            <a:avLst>
              <a:gd name="adj" fmla="val 17920"/>
            </a:avLst>
          </a:prstGeom>
          <a:solidFill>
            <a:srgbClr val="F0F0F0"/>
          </a:solidFill>
          <a:ln/>
        </p:spPr>
      </p:sp>
      <p:sp>
        <p:nvSpPr>
          <p:cNvPr id="57" name="Text 55"/>
          <p:cNvSpPr/>
          <p:nvPr/>
        </p:nvSpPr>
        <p:spPr>
          <a:xfrm>
            <a:off x="656875" y="2963168"/>
            <a:ext cx="881167" cy="904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20" b="1" dirty="0">
                <a:solidFill>
                  <a:srgbClr val="404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Analytics &amp; Insights</a:t>
            </a:r>
            <a:endParaRPr lang="en-US" sz="520" dirty="0"/>
          </a:p>
        </p:txBody>
      </p:sp>
      <p:sp>
        <p:nvSpPr>
          <p:cNvPr id="58" name="Text 56"/>
          <p:cNvSpPr/>
          <p:nvPr/>
        </p:nvSpPr>
        <p:spPr>
          <a:xfrm>
            <a:off x="1778719" y="2941886"/>
            <a:ext cx="166658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90" b="1" dirty="0">
                <a:solidFill>
                  <a:srgbClr val="006B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790" dirty="0"/>
          </a:p>
        </p:txBody>
      </p:sp>
      <p:sp>
        <p:nvSpPr>
          <p:cNvPr id="59" name="Shape 57"/>
          <p:cNvSpPr/>
          <p:nvPr/>
        </p:nvSpPr>
        <p:spPr>
          <a:xfrm>
            <a:off x="1908423" y="2941104"/>
            <a:ext cx="1271588" cy="142875"/>
          </a:xfrm>
          <a:prstGeom prst="roundRect">
            <a:avLst>
              <a:gd name="adj" fmla="val 17920"/>
            </a:avLst>
          </a:prstGeom>
          <a:solidFill>
            <a:srgbClr val="F0F0F0"/>
          </a:solidFill>
          <a:ln/>
        </p:spPr>
      </p:sp>
      <p:sp>
        <p:nvSpPr>
          <p:cNvPr id="60" name="Text 58"/>
          <p:cNvSpPr/>
          <p:nvPr/>
        </p:nvSpPr>
        <p:spPr>
          <a:xfrm>
            <a:off x="2126464" y="2963168"/>
            <a:ext cx="835506" cy="904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20" b="1" dirty="0">
                <a:solidFill>
                  <a:srgbClr val="404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Leadership Review</a:t>
            </a:r>
            <a:endParaRPr lang="en-US" sz="520" dirty="0"/>
          </a:p>
        </p:txBody>
      </p:sp>
      <p:sp>
        <p:nvSpPr>
          <p:cNvPr id="61" name="Text 59"/>
          <p:cNvSpPr/>
          <p:nvPr/>
        </p:nvSpPr>
        <p:spPr>
          <a:xfrm>
            <a:off x="3225478" y="2941886"/>
            <a:ext cx="166658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90" b="1" dirty="0">
                <a:solidFill>
                  <a:srgbClr val="006B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790" dirty="0"/>
          </a:p>
        </p:txBody>
      </p:sp>
      <p:sp>
        <p:nvSpPr>
          <p:cNvPr id="62" name="Shape 60"/>
          <p:cNvSpPr/>
          <p:nvPr/>
        </p:nvSpPr>
        <p:spPr>
          <a:xfrm>
            <a:off x="3355181" y="2941104"/>
            <a:ext cx="1271588" cy="142875"/>
          </a:xfrm>
          <a:prstGeom prst="roundRect">
            <a:avLst>
              <a:gd name="adj" fmla="val 17920"/>
            </a:avLst>
          </a:prstGeom>
          <a:solidFill>
            <a:srgbClr val="006B5C"/>
          </a:solidFill>
          <a:ln/>
        </p:spPr>
      </p:sp>
      <p:sp>
        <p:nvSpPr>
          <p:cNvPr id="63" name="Text 61"/>
          <p:cNvSpPr/>
          <p:nvPr/>
        </p:nvSpPr>
        <p:spPr>
          <a:xfrm>
            <a:off x="3447849" y="2963168"/>
            <a:ext cx="1086252" cy="904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Approved Business Plan</a:t>
            </a:r>
            <a:endParaRPr lang="en-US" sz="520" dirty="0"/>
          </a:p>
        </p:txBody>
      </p:sp>
      <p:sp>
        <p:nvSpPr>
          <p:cNvPr id="64" name="Shape 62"/>
          <p:cNvSpPr/>
          <p:nvPr/>
        </p:nvSpPr>
        <p:spPr>
          <a:xfrm>
            <a:off x="4877544" y="851260"/>
            <a:ext cx="3919537" cy="3424238"/>
          </a:xfrm>
          <a:prstGeom prst="roundRect">
            <a:avLst>
              <a:gd name="adj" fmla="val 1202"/>
            </a:avLst>
          </a:prstGeom>
          <a:solidFill>
            <a:srgbClr val="EAF6F2"/>
          </a:solidFill>
          <a:ln/>
        </p:spPr>
      </p:sp>
      <p:sp>
        <p:nvSpPr>
          <p:cNvPr id="65" name="Text 63"/>
          <p:cNvSpPr/>
          <p:nvPr/>
        </p:nvSpPr>
        <p:spPr>
          <a:xfrm>
            <a:off x="4987751" y="965076"/>
            <a:ext cx="2934824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344"/>
              </a:spcAft>
              <a:buNone/>
            </a:pPr>
            <a:r>
              <a:rPr lang="en-US" sz="580" b="1" spc="58" kern="0" dirty="0">
                <a:solidFill>
                  <a:srgbClr val="006B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BUSINESS CAPABILITIES — FOUR LOGICAL DOMAINS</a:t>
            </a:r>
            <a:endParaRPr lang="en-US" sz="580" dirty="0"/>
          </a:p>
        </p:txBody>
      </p:sp>
      <p:sp>
        <p:nvSpPr>
          <p:cNvPr id="66" name="Shape 64"/>
          <p:cNvSpPr/>
          <p:nvPr/>
        </p:nvSpPr>
        <p:spPr>
          <a:xfrm>
            <a:off x="4987082" y="1158515"/>
            <a:ext cx="3700463" cy="728663"/>
          </a:xfrm>
          <a:prstGeom prst="roundRect">
            <a:avLst>
              <a:gd name="adj" fmla="val 4392"/>
            </a:avLst>
          </a:prstGeom>
          <a:solidFill>
            <a:srgbClr val="FFFFFF"/>
          </a:solidFill>
          <a:ln/>
        </p:spPr>
      </p:sp>
      <p:sp>
        <p:nvSpPr>
          <p:cNvPr id="67" name="Text 65"/>
          <p:cNvSpPr/>
          <p:nvPr/>
        </p:nvSpPr>
        <p:spPr>
          <a:xfrm>
            <a:off x="5084266" y="1202829"/>
            <a:ext cx="999961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006B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Deal Intelligence</a:t>
            </a:r>
            <a:endParaRPr lang="en-US" sz="660" dirty="0"/>
          </a:p>
        </p:txBody>
      </p:sp>
      <p:sp>
        <p:nvSpPr>
          <p:cNvPr id="68" name="Text 66"/>
          <p:cNvSpPr/>
          <p:nvPr/>
        </p:nvSpPr>
        <p:spPr>
          <a:xfrm>
            <a:off x="5864349" y="1226641"/>
            <a:ext cx="1660103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50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Find Similar Deals • Evaluate Deal Terms</a:t>
            </a:r>
            <a:endParaRPr lang="en-US" sz="500" dirty="0"/>
          </a:p>
        </p:txBody>
      </p:sp>
      <p:sp>
        <p:nvSpPr>
          <p:cNvPr id="69" name="Text 67"/>
          <p:cNvSpPr/>
          <p:nvPr/>
        </p:nvSpPr>
        <p:spPr>
          <a:xfrm>
            <a:off x="5084266" y="1339602"/>
            <a:ext cx="4538938" cy="286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55"/>
              </a:lnSpc>
              <a:buNone/>
            </a:pPr>
            <a:r>
              <a:rPr lang="en-US" sz="55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Calibrates revenue and cost assumptions against verified historical comparables; evaluates guarantee,</a:t>
            </a:r>
            <a:endParaRPr lang="en-US" sz="550" dirty="0"/>
          </a:p>
          <a:p>
            <a:pPr algn="l" indent="0" marL="0">
              <a:lnSpc>
                <a:spcPts val="755"/>
              </a:lnSpc>
              <a:buNone/>
            </a:pPr>
            <a:r>
              <a:rPr lang="en-US" sz="55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sellthrough, and venue cost structure against codified benchmarks — with explicit confidence scoring and</a:t>
            </a:r>
            <a:endParaRPr lang="en-US" sz="550" dirty="0"/>
          </a:p>
          <a:p>
            <a:pPr algn="l" indent="0" marL="0">
              <a:lnSpc>
                <a:spcPts val="755"/>
              </a:lnSpc>
              <a:buNone/>
            </a:pPr>
            <a:r>
              <a:rPr lang="en-US" sz="55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cold-start handling</a:t>
            </a:r>
            <a:endParaRPr lang="en-US" sz="550" dirty="0"/>
          </a:p>
        </p:txBody>
      </p:sp>
      <p:sp>
        <p:nvSpPr>
          <p:cNvPr id="70" name="Shape 68"/>
          <p:cNvSpPr/>
          <p:nvPr/>
        </p:nvSpPr>
        <p:spPr>
          <a:xfrm>
            <a:off x="4987082" y="1918581"/>
            <a:ext cx="3700463" cy="728663"/>
          </a:xfrm>
          <a:prstGeom prst="roundRect">
            <a:avLst>
              <a:gd name="adj" fmla="val 4392"/>
            </a:avLst>
          </a:prstGeom>
          <a:solidFill>
            <a:srgbClr val="FFFFFF"/>
          </a:solidFill>
          <a:ln/>
        </p:spPr>
      </p:sp>
      <p:sp>
        <p:nvSpPr>
          <p:cNvPr id="71" name="Text 69"/>
          <p:cNvSpPr/>
          <p:nvPr/>
        </p:nvSpPr>
        <p:spPr>
          <a:xfrm>
            <a:off x="5084266" y="1962894"/>
            <a:ext cx="1420579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006B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Negotiation Intelligence</a:t>
            </a:r>
            <a:endParaRPr lang="en-US" sz="660" dirty="0"/>
          </a:p>
        </p:txBody>
      </p:sp>
      <p:sp>
        <p:nvSpPr>
          <p:cNvPr id="72" name="Text 70"/>
          <p:cNvSpPr/>
          <p:nvPr/>
        </p:nvSpPr>
        <p:spPr>
          <a:xfrm>
            <a:off x="6187901" y="1986707"/>
            <a:ext cx="1919168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50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Interpret Counter-Offer • Counterparty History</a:t>
            </a:r>
            <a:endParaRPr lang="en-US" sz="500" dirty="0"/>
          </a:p>
        </p:txBody>
      </p:sp>
      <p:sp>
        <p:nvSpPr>
          <p:cNvPr id="73" name="Text 71"/>
          <p:cNvSpPr/>
          <p:nvPr/>
        </p:nvSpPr>
        <p:spPr>
          <a:xfrm>
            <a:off x="5084266" y="2099667"/>
            <a:ext cx="4449261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55"/>
              </a:lnSpc>
              <a:buNone/>
            </a:pPr>
            <a:r>
              <a:rPr lang="en-US" sz="55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Interprets incoming counterparty positions and retrieves agent negotiation patterns from prior deals —</a:t>
            </a:r>
            <a:endParaRPr lang="en-US" sz="550" dirty="0"/>
          </a:p>
          <a:p>
            <a:pPr algn="l" indent="0" marL="0">
              <a:lnSpc>
                <a:spcPts val="755"/>
              </a:lnSpc>
              <a:buNone/>
            </a:pPr>
            <a:r>
              <a:rPr lang="en-US" sz="55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with explicit no-pattern notice when history is insufficient to generalize reliably</a:t>
            </a:r>
            <a:endParaRPr lang="en-US" sz="550" dirty="0"/>
          </a:p>
        </p:txBody>
      </p:sp>
      <p:sp>
        <p:nvSpPr>
          <p:cNvPr id="74" name="Shape 72"/>
          <p:cNvSpPr/>
          <p:nvPr/>
        </p:nvSpPr>
        <p:spPr>
          <a:xfrm>
            <a:off x="4987082" y="2678646"/>
            <a:ext cx="3700463" cy="728663"/>
          </a:xfrm>
          <a:prstGeom prst="roundRect">
            <a:avLst>
              <a:gd name="adj" fmla="val 4392"/>
            </a:avLst>
          </a:prstGeom>
          <a:solidFill>
            <a:srgbClr val="FFFFFF"/>
          </a:solidFill>
          <a:ln/>
        </p:spPr>
      </p:sp>
      <p:sp>
        <p:nvSpPr>
          <p:cNvPr id="75" name="Text 73"/>
          <p:cNvSpPr/>
          <p:nvPr/>
        </p:nvSpPr>
        <p:spPr>
          <a:xfrm>
            <a:off x="5084266" y="2722959"/>
            <a:ext cx="1257285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006B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Planning Productivity</a:t>
            </a:r>
            <a:endParaRPr lang="en-US" sz="660" dirty="0"/>
          </a:p>
        </p:txBody>
      </p:sp>
      <p:sp>
        <p:nvSpPr>
          <p:cNvPr id="76" name="Text 74"/>
          <p:cNvSpPr/>
          <p:nvPr/>
        </p:nvSpPr>
        <p:spPr>
          <a:xfrm>
            <a:off x="6062290" y="2746772"/>
            <a:ext cx="1907657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50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 Review • Draft Pitch • Frame Internal Ask</a:t>
            </a:r>
            <a:endParaRPr lang="en-US" sz="500" dirty="0"/>
          </a:p>
        </p:txBody>
      </p:sp>
      <p:sp>
        <p:nvSpPr>
          <p:cNvPr id="77" name="Text 75"/>
          <p:cNvSpPr/>
          <p:nvPr/>
        </p:nvSpPr>
        <p:spPr>
          <a:xfrm>
            <a:off x="5084266" y="2859732"/>
            <a:ext cx="4620682" cy="286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55"/>
              </a:lnSpc>
              <a:buNone/>
            </a:pPr>
            <a:r>
              <a:rPr lang="en-US" sz="55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Holistic pre-submission quality gate; editable pitch drafts and internal ask framing grounded in plan context</a:t>
            </a:r>
            <a:endParaRPr lang="en-US" sz="550" dirty="0"/>
          </a:p>
          <a:p>
            <a:pPr algn="l" indent="0" marL="0">
              <a:lnSpc>
                <a:spcPts val="755"/>
              </a:lnSpc>
              <a:buNone/>
            </a:pPr>
            <a:r>
              <a:rPr lang="en-US" sz="55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and precedent — outbound content never transmitted autonomously; mandatory human review gate</a:t>
            </a:r>
            <a:endParaRPr lang="en-US" sz="550" dirty="0"/>
          </a:p>
          <a:p>
            <a:pPr algn="l" indent="0" marL="0">
              <a:lnSpc>
                <a:spcPts val="755"/>
              </a:lnSpc>
              <a:buNone/>
            </a:pPr>
            <a:r>
              <a:rPr lang="en-US" sz="55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enforced</a:t>
            </a:r>
            <a:endParaRPr lang="en-US" sz="550" dirty="0"/>
          </a:p>
        </p:txBody>
      </p:sp>
      <p:sp>
        <p:nvSpPr>
          <p:cNvPr id="78" name="Shape 76"/>
          <p:cNvSpPr/>
          <p:nvPr/>
        </p:nvSpPr>
        <p:spPr>
          <a:xfrm>
            <a:off x="4987082" y="3438711"/>
            <a:ext cx="3700463" cy="728663"/>
          </a:xfrm>
          <a:prstGeom prst="roundRect">
            <a:avLst>
              <a:gd name="adj" fmla="val 4392"/>
            </a:avLst>
          </a:prstGeom>
          <a:solidFill>
            <a:srgbClr val="006B5C"/>
          </a:solidFill>
          <a:ln/>
        </p:spPr>
      </p:sp>
      <p:sp>
        <p:nvSpPr>
          <p:cNvPr id="79" name="Text 77"/>
          <p:cNvSpPr/>
          <p:nvPr/>
        </p:nvSpPr>
        <p:spPr>
          <a:xfrm>
            <a:off x="5084266" y="3483025"/>
            <a:ext cx="1362343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Knowledge Governance</a:t>
            </a:r>
            <a:endParaRPr lang="en-US" sz="660" dirty="0"/>
          </a:p>
        </p:txBody>
      </p:sp>
      <p:sp>
        <p:nvSpPr>
          <p:cNvPr id="80" name="Text 78"/>
          <p:cNvSpPr/>
          <p:nvPr/>
        </p:nvSpPr>
        <p:spPr>
          <a:xfrm>
            <a:off x="6143104" y="3506837"/>
            <a:ext cx="1909301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500" dirty="0">
                <a:solidFill>
                  <a:srgbClr val="EAF6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Expertise Layer • Feedback Signal Aggregation</a:t>
            </a:r>
            <a:endParaRPr lang="en-US" sz="500" dirty="0"/>
          </a:p>
        </p:txBody>
      </p:sp>
      <p:sp>
        <p:nvSpPr>
          <p:cNvPr id="81" name="Text 79"/>
          <p:cNvSpPr/>
          <p:nvPr/>
        </p:nvSpPr>
        <p:spPr>
          <a:xfrm>
            <a:off x="5084266" y="3619798"/>
            <a:ext cx="4435234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55"/>
              </a:lnSpc>
              <a:buNone/>
            </a:pPr>
            <a:r>
              <a:rPr lang="en-US" sz="550" dirty="0">
                <a:solidFill>
                  <a:srgbClr val="EAF6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Override patterns and feedback signals surface candidate knowledge-elicitation topics to leadership —</a:t>
            </a:r>
            <a:endParaRPr lang="en-US" sz="550" dirty="0"/>
          </a:p>
          <a:p>
            <a:pPr algn="l" indent="0" marL="0">
              <a:lnSpc>
                <a:spcPts val="755"/>
              </a:lnSpc>
              <a:buNone/>
            </a:pPr>
            <a:r>
              <a:rPr lang="en-US" sz="550" dirty="0">
                <a:solidFill>
                  <a:srgbClr val="EAF6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expertise updated only through structured senior-leader sessions, never auto-published from AI output</a:t>
            </a:r>
            <a:endParaRPr lang="en-US" sz="550" dirty="0"/>
          </a:p>
        </p:txBody>
      </p:sp>
      <p:sp>
        <p:nvSpPr>
          <p:cNvPr id="82" name="Shape 80"/>
          <p:cNvSpPr/>
          <p:nvPr/>
        </p:nvSpPr>
        <p:spPr>
          <a:xfrm>
            <a:off x="347663" y="4327289"/>
            <a:ext cx="8448675" cy="723900"/>
          </a:xfrm>
          <a:prstGeom prst="roundRect">
            <a:avLst>
              <a:gd name="adj" fmla="val 5053"/>
            </a:avLst>
          </a:prstGeom>
          <a:solidFill>
            <a:srgbClr val="FFFFFF"/>
          </a:solidFill>
          <a:ln w="4763">
            <a:solidFill>
              <a:srgbClr val="C8E8E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461888" y="4375993"/>
            <a:ext cx="2761082" cy="904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263"/>
              </a:spcAft>
              <a:buNone/>
            </a:pPr>
            <a:r>
              <a:rPr lang="en-US" sz="520" b="1" spc="52" kern="0" dirty="0">
                <a:solidFill>
                  <a:srgbClr val="006B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STRATEGIC DESIGN RATIONALE — WHY THESE CHOICES</a:t>
            </a:r>
            <a:endParaRPr lang="en-US" sz="520" dirty="0"/>
          </a:p>
        </p:txBody>
      </p:sp>
      <p:sp>
        <p:nvSpPr>
          <p:cNvPr id="84" name="Shape 82"/>
          <p:cNvSpPr/>
          <p:nvPr/>
        </p:nvSpPr>
        <p:spPr>
          <a:xfrm>
            <a:off x="461702" y="4507669"/>
            <a:ext cx="1585913" cy="495300"/>
          </a:xfrm>
          <a:prstGeom prst="roundRect">
            <a:avLst>
              <a:gd name="adj" fmla="val 5538"/>
            </a:avLst>
          </a:prstGeom>
          <a:solidFill>
            <a:srgbClr val="EAF6F2"/>
          </a:solidFill>
          <a:ln/>
        </p:spPr>
      </p:sp>
      <p:sp>
        <p:nvSpPr>
          <p:cNvPr id="85" name="Text 83"/>
          <p:cNvSpPr/>
          <p:nvPr/>
        </p:nvSpPr>
        <p:spPr>
          <a:xfrm>
            <a:off x="535037" y="4543723"/>
            <a:ext cx="625971" cy="904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89"/>
              </a:spcAft>
              <a:buNone/>
            </a:pPr>
            <a:r>
              <a:rPr lang="en-US" sz="540" b="1" dirty="0">
                <a:solidFill>
                  <a:srgbClr val="006B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Grounded AI</a:t>
            </a:r>
            <a:endParaRPr lang="en-US" sz="540" dirty="0"/>
          </a:p>
        </p:txBody>
      </p:sp>
      <p:sp>
        <p:nvSpPr>
          <p:cNvPr id="86" name="Text 84"/>
          <p:cNvSpPr/>
          <p:nvPr/>
        </p:nvSpPr>
        <p:spPr>
          <a:xfrm>
            <a:off x="535037" y="4648423"/>
            <a:ext cx="1749296" cy="3245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27"/>
              </a:lnSpc>
              <a:buNone/>
            </a:pPr>
            <a:r>
              <a:rPr lang="en-US" sz="48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100% of outputs traceable to historical</a:t>
            </a:r>
            <a:endParaRPr lang="en-US" sz="480" dirty="0"/>
          </a:p>
          <a:p>
            <a:pPr algn="l" indent="0" marL="0">
              <a:lnSpc>
                <a:spcPts val="627"/>
              </a:lnSpc>
              <a:buNone/>
            </a:pPr>
            <a:r>
              <a:rPr lang="en-US" sz="48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comparables or codified expertise; explicit</a:t>
            </a:r>
            <a:endParaRPr lang="en-US" sz="480" dirty="0"/>
          </a:p>
          <a:p>
            <a:pPr algn="l" indent="0" marL="0">
              <a:lnSpc>
                <a:spcPts val="627"/>
              </a:lnSpc>
              <a:buNone/>
            </a:pPr>
            <a:r>
              <a:rPr lang="en-US" sz="48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low-confidence signaling — never fabricates when</a:t>
            </a:r>
            <a:endParaRPr lang="en-US" sz="480" dirty="0"/>
          </a:p>
          <a:p>
            <a:pPr algn="l" indent="0" marL="0">
              <a:lnSpc>
                <a:spcPts val="627"/>
              </a:lnSpc>
              <a:buNone/>
            </a:pPr>
            <a:r>
              <a:rPr lang="en-US" sz="48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is insufficient</a:t>
            </a:r>
            <a:endParaRPr lang="en-US" sz="480" dirty="0"/>
          </a:p>
        </p:txBody>
      </p:sp>
      <p:sp>
        <p:nvSpPr>
          <p:cNvPr id="87" name="Shape 85"/>
          <p:cNvSpPr/>
          <p:nvPr/>
        </p:nvSpPr>
        <p:spPr>
          <a:xfrm>
            <a:off x="2120392" y="4507669"/>
            <a:ext cx="1585913" cy="495300"/>
          </a:xfrm>
          <a:prstGeom prst="roundRect">
            <a:avLst>
              <a:gd name="adj" fmla="val 5538"/>
            </a:avLst>
          </a:prstGeom>
          <a:solidFill>
            <a:srgbClr val="EAF6F2"/>
          </a:solidFill>
          <a:ln/>
        </p:spPr>
      </p:sp>
      <p:sp>
        <p:nvSpPr>
          <p:cNvPr id="88" name="Text 86"/>
          <p:cNvSpPr/>
          <p:nvPr/>
        </p:nvSpPr>
        <p:spPr>
          <a:xfrm>
            <a:off x="2193727" y="4543723"/>
            <a:ext cx="931084" cy="904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89"/>
              </a:spcAft>
              <a:buNone/>
            </a:pPr>
            <a:r>
              <a:rPr lang="en-US" sz="540" b="1" dirty="0">
                <a:solidFill>
                  <a:srgbClr val="006B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Human-in-the-Loop</a:t>
            </a:r>
            <a:endParaRPr lang="en-US" sz="540" dirty="0"/>
          </a:p>
        </p:txBody>
      </p:sp>
      <p:sp>
        <p:nvSpPr>
          <p:cNvPr id="89" name="Text 87"/>
          <p:cNvSpPr/>
          <p:nvPr/>
        </p:nvSpPr>
        <p:spPr>
          <a:xfrm>
            <a:off x="2193727" y="4648423"/>
            <a:ext cx="1877668" cy="2449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27"/>
              </a:lnSpc>
              <a:buNone/>
            </a:pPr>
            <a:r>
              <a:rPr lang="en-US" sz="48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Leadership retains final approval authority at all</a:t>
            </a:r>
            <a:endParaRPr lang="en-US" sz="480" dirty="0"/>
          </a:p>
          <a:p>
            <a:pPr algn="l" indent="0" marL="0">
              <a:lnSpc>
                <a:spcPts val="627"/>
              </a:lnSpc>
              <a:buNone/>
            </a:pPr>
            <a:r>
              <a:rPr lang="en-US" sz="48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times — AI provides advisory inputs only; fully</a:t>
            </a:r>
            <a:endParaRPr lang="en-US" sz="480" dirty="0"/>
          </a:p>
          <a:p>
            <a:pPr algn="l" indent="0" marL="0">
              <a:lnSpc>
                <a:spcPts val="627"/>
              </a:lnSpc>
              <a:buNone/>
            </a:pPr>
            <a:r>
              <a:rPr lang="en-US" sz="48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automated plan approval is explicitly out of scope</a:t>
            </a:r>
            <a:endParaRPr lang="en-US" sz="480" dirty="0"/>
          </a:p>
        </p:txBody>
      </p:sp>
      <p:sp>
        <p:nvSpPr>
          <p:cNvPr id="90" name="Shape 88"/>
          <p:cNvSpPr/>
          <p:nvPr/>
        </p:nvSpPr>
        <p:spPr>
          <a:xfrm>
            <a:off x="3779081" y="4507669"/>
            <a:ext cx="1585913" cy="495300"/>
          </a:xfrm>
          <a:prstGeom prst="roundRect">
            <a:avLst>
              <a:gd name="adj" fmla="val 5538"/>
            </a:avLst>
          </a:prstGeom>
          <a:solidFill>
            <a:srgbClr val="EAF6F2"/>
          </a:solidFill>
          <a:ln/>
        </p:spPr>
      </p:sp>
      <p:sp>
        <p:nvSpPr>
          <p:cNvPr id="91" name="Text 89"/>
          <p:cNvSpPr/>
          <p:nvPr/>
        </p:nvSpPr>
        <p:spPr>
          <a:xfrm>
            <a:off x="3852416" y="4543723"/>
            <a:ext cx="898676" cy="904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89"/>
              </a:spcAft>
              <a:buNone/>
            </a:pPr>
            <a:r>
              <a:rPr lang="en-US" sz="540" b="1" dirty="0">
                <a:solidFill>
                  <a:srgbClr val="006B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Specialized Agents</a:t>
            </a:r>
            <a:endParaRPr lang="en-US" sz="540" dirty="0"/>
          </a:p>
        </p:txBody>
      </p:sp>
      <p:sp>
        <p:nvSpPr>
          <p:cNvPr id="92" name="Text 90"/>
          <p:cNvSpPr/>
          <p:nvPr/>
        </p:nvSpPr>
        <p:spPr>
          <a:xfrm>
            <a:off x="3852416" y="4648423"/>
            <a:ext cx="1782767" cy="3245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27"/>
              </a:lnSpc>
              <a:buNone/>
            </a:pPr>
            <a:r>
              <a:rPr lang="en-US" sz="48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Four purpose-built agents — Deal Calibration,</a:t>
            </a:r>
            <a:endParaRPr lang="en-US" sz="480" dirty="0"/>
          </a:p>
          <a:p>
            <a:pPr algn="l" indent="0" marL="0">
              <a:lnSpc>
                <a:spcPts val="627"/>
              </a:lnSpc>
              <a:buNone/>
            </a:pPr>
            <a:r>
              <a:rPr lang="en-US" sz="48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Negotiation Support, Communication Drafting,</a:t>
            </a:r>
            <a:endParaRPr lang="en-US" sz="480" dirty="0"/>
          </a:p>
          <a:p>
            <a:pPr algn="l" indent="0" marL="0">
              <a:lnSpc>
                <a:spcPts val="627"/>
              </a:lnSpc>
              <a:buNone/>
            </a:pPr>
            <a:r>
              <a:rPr lang="en-US" sz="48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 Review — each optimized for its specific</a:t>
            </a:r>
            <a:endParaRPr lang="en-US" sz="480" dirty="0"/>
          </a:p>
          <a:p>
            <a:pPr algn="l" indent="0" marL="0">
              <a:lnSpc>
                <a:spcPts val="627"/>
              </a:lnSpc>
              <a:buNone/>
            </a:pPr>
            <a:r>
              <a:rPr lang="en-US" sz="48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business workflow and decision context</a:t>
            </a:r>
            <a:endParaRPr lang="en-US" sz="480" dirty="0"/>
          </a:p>
        </p:txBody>
      </p:sp>
      <p:sp>
        <p:nvSpPr>
          <p:cNvPr id="93" name="Shape 91"/>
          <p:cNvSpPr/>
          <p:nvPr/>
        </p:nvSpPr>
        <p:spPr>
          <a:xfrm>
            <a:off x="5437770" y="4507669"/>
            <a:ext cx="1585913" cy="495300"/>
          </a:xfrm>
          <a:prstGeom prst="roundRect">
            <a:avLst>
              <a:gd name="adj" fmla="val 5538"/>
            </a:avLst>
          </a:prstGeom>
          <a:solidFill>
            <a:srgbClr val="EAF6F2"/>
          </a:solidFill>
          <a:ln/>
        </p:spPr>
      </p:sp>
      <p:sp>
        <p:nvSpPr>
          <p:cNvPr id="94" name="Text 92"/>
          <p:cNvSpPr/>
          <p:nvPr/>
        </p:nvSpPr>
        <p:spPr>
          <a:xfrm>
            <a:off x="5511105" y="4543723"/>
            <a:ext cx="674147" cy="904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89"/>
              </a:spcAft>
              <a:buNone/>
            </a:pPr>
            <a:r>
              <a:rPr lang="en-US" sz="540" b="1" dirty="0">
                <a:solidFill>
                  <a:srgbClr val="006B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Explainability</a:t>
            </a:r>
            <a:endParaRPr lang="en-US" sz="540" dirty="0"/>
          </a:p>
        </p:txBody>
      </p:sp>
      <p:sp>
        <p:nvSpPr>
          <p:cNvPr id="95" name="Text 93"/>
          <p:cNvSpPr/>
          <p:nvPr/>
        </p:nvSpPr>
        <p:spPr>
          <a:xfrm>
            <a:off x="5511105" y="4648423"/>
            <a:ext cx="1881827" cy="3245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27"/>
              </a:lnSpc>
              <a:buNone/>
            </a:pPr>
            <a:r>
              <a:rPr lang="en-US" sz="48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≥80% leadership agreement with AI reasoning —</a:t>
            </a:r>
            <a:endParaRPr lang="en-US" sz="480" dirty="0"/>
          </a:p>
          <a:p>
            <a:pPr algn="l" indent="0" marL="0">
              <a:lnSpc>
                <a:spcPts val="627"/>
              </a:lnSpc>
              <a:buNone/>
            </a:pPr>
            <a:r>
              <a:rPr lang="en-US" sz="48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recommendation shows its source evidence</a:t>
            </a:r>
            <a:endParaRPr lang="en-US" sz="480" dirty="0"/>
          </a:p>
          <a:p>
            <a:pPr algn="l" indent="0" marL="0">
              <a:lnSpc>
                <a:spcPts val="627"/>
              </a:lnSpc>
              <a:buNone/>
            </a:pPr>
            <a:r>
              <a:rPr lang="en-US" sz="48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 leadership validates the logic, not just the</a:t>
            </a:r>
            <a:endParaRPr lang="en-US" sz="480" dirty="0"/>
          </a:p>
          <a:p>
            <a:pPr algn="l" indent="0" marL="0">
              <a:lnSpc>
                <a:spcPts val="627"/>
              </a:lnSpc>
              <a:buNone/>
            </a:pPr>
            <a:r>
              <a:rPr lang="en-US" sz="48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output</a:t>
            </a:r>
            <a:endParaRPr lang="en-US" sz="480" dirty="0"/>
          </a:p>
        </p:txBody>
      </p:sp>
      <p:sp>
        <p:nvSpPr>
          <p:cNvPr id="96" name="Shape 94"/>
          <p:cNvSpPr/>
          <p:nvPr/>
        </p:nvSpPr>
        <p:spPr>
          <a:xfrm>
            <a:off x="7096460" y="4507669"/>
            <a:ext cx="1585913" cy="495300"/>
          </a:xfrm>
          <a:prstGeom prst="roundRect">
            <a:avLst>
              <a:gd name="adj" fmla="val 5538"/>
            </a:avLst>
          </a:prstGeom>
          <a:solidFill>
            <a:srgbClr val="006B5C"/>
          </a:solidFill>
          <a:ln/>
        </p:spPr>
      </p:sp>
      <p:sp>
        <p:nvSpPr>
          <p:cNvPr id="97" name="Text 95"/>
          <p:cNvSpPr/>
          <p:nvPr/>
        </p:nvSpPr>
        <p:spPr>
          <a:xfrm>
            <a:off x="7169795" y="4543723"/>
            <a:ext cx="780656" cy="904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89"/>
              </a:spcAft>
              <a:buNone/>
            </a:pPr>
            <a:r>
              <a:rPr lang="en-US" sz="5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Phased Delivery</a:t>
            </a:r>
            <a:endParaRPr lang="en-US" sz="540" dirty="0"/>
          </a:p>
        </p:txBody>
      </p:sp>
      <p:sp>
        <p:nvSpPr>
          <p:cNvPr id="98" name="Text 96"/>
          <p:cNvSpPr/>
          <p:nvPr/>
        </p:nvSpPr>
        <p:spPr>
          <a:xfrm>
            <a:off x="7169795" y="4648423"/>
            <a:ext cx="1861899" cy="3245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27"/>
              </a:lnSpc>
              <a:buNone/>
            </a:pPr>
            <a:r>
              <a:rPr lang="en-US" sz="480" dirty="0">
                <a:solidFill>
                  <a:srgbClr val="EAF6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Foundation capabilities (read-only, advisory) first;</a:t>
            </a:r>
            <a:endParaRPr lang="en-US" sz="480" dirty="0"/>
          </a:p>
          <a:p>
            <a:pPr algn="l" indent="0" marL="0">
              <a:lnSpc>
                <a:spcPts val="627"/>
              </a:lnSpc>
              <a:buNone/>
            </a:pPr>
            <a:r>
              <a:rPr lang="en-US" sz="480" dirty="0">
                <a:solidFill>
                  <a:srgbClr val="EAF6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outbound communication last — sequenced by</a:t>
            </a:r>
            <a:endParaRPr lang="en-US" sz="480" dirty="0"/>
          </a:p>
          <a:p>
            <a:pPr algn="l" indent="0" marL="0">
              <a:lnSpc>
                <a:spcPts val="627"/>
              </a:lnSpc>
              <a:buNone/>
            </a:pPr>
            <a:r>
              <a:rPr lang="en-US" sz="480" dirty="0">
                <a:solidFill>
                  <a:srgbClr val="EAF6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maturity and output risk, not technology</a:t>
            </a:r>
            <a:endParaRPr lang="en-US" sz="480" dirty="0"/>
          </a:p>
          <a:p>
            <a:pPr algn="l" indent="0" marL="0">
              <a:lnSpc>
                <a:spcPts val="627"/>
              </a:lnSpc>
              <a:buNone/>
            </a:pPr>
            <a:r>
              <a:rPr lang="en-US" sz="480" dirty="0">
                <a:solidFill>
                  <a:srgbClr val="EAF6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readiness</a:t>
            </a:r>
            <a:endParaRPr lang="en-US" sz="480" dirty="0"/>
          </a:p>
        </p:txBody>
      </p:sp>
      <p:pic>
        <p:nvPicPr>
          <p:cNvPr id="9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62967" y="964257"/>
            <a:ext cx="4162425" cy="157163"/>
          </a:xfrm>
          <a:prstGeom prst="rect">
            <a:avLst/>
          </a:prstGeom>
        </p:spPr>
      </p:pic>
      <p:pic>
        <p:nvPicPr>
          <p:cNvPr id="10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87082" y="959495"/>
            <a:ext cx="3700463" cy="157163"/>
          </a:xfrm>
          <a:prstGeom prst="rect">
            <a:avLst/>
          </a:prstGeom>
        </p:spPr>
      </p:pic>
      <p:pic>
        <p:nvPicPr>
          <p:cNvPr id="10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87082" y="1158515"/>
            <a:ext cx="3700463" cy="728663"/>
          </a:xfrm>
          <a:prstGeom prst="rect">
            <a:avLst/>
          </a:prstGeom>
        </p:spPr>
      </p:pic>
      <p:pic>
        <p:nvPicPr>
          <p:cNvPr id="10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987082" y="1918581"/>
            <a:ext cx="3700463" cy="728663"/>
          </a:xfrm>
          <a:prstGeom prst="rect">
            <a:avLst/>
          </a:prstGeom>
        </p:spPr>
      </p:pic>
      <p:pic>
        <p:nvPicPr>
          <p:cNvPr id="103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987082" y="2678646"/>
            <a:ext cx="3700463" cy="728663"/>
          </a:xfrm>
          <a:prstGeom prst="rect">
            <a:avLst/>
          </a:prstGeom>
        </p:spPr>
      </p:pic>
      <p:pic>
        <p:nvPicPr>
          <p:cNvPr id="104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987082" y="3438711"/>
            <a:ext cx="3700463" cy="72866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2026-07-24T11:56:00Z</dcterms:created>
  <dcterms:modified xsi:type="dcterms:W3CDTF">2026-07-24T11:56:00Z</dcterms:modified>
</cp:coreProperties>
</file>